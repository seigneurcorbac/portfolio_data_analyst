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7" roundtripDataSignature="AMtx7mgjbcmDN2nns55bmNOaFwi6JfM/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" name="Google Shape;27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 avec image">
  <p:cSld name="Diapositive de titre avec imag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Google Shape;11;p13"/>
          <p:cNvCxnSpPr/>
          <p:nvPr/>
        </p:nvCxnSpPr>
        <p:spPr>
          <a:xfrm flipH="1" rot="10800000">
            <a:off x="0" y="0"/>
            <a:ext cx="4523015" cy="2253342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" name="Google Shape;12;p13"/>
          <p:cNvSpPr/>
          <p:nvPr>
            <p:ph idx="2" type="pic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3" name="Google Shape;13;p13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rgbClr val="EE957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13" title="Titre"/>
          <p:cNvSpPr txBox="1"/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b="1" sz="3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13" title="Sous-titre"/>
          <p:cNvSpPr txBox="1"/>
          <p:nvPr>
            <p:ph idx="1" type="subTitle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6" name="Google Shape;16;p13"/>
          <p:cNvCxnSpPr/>
          <p:nvPr/>
        </p:nvCxnSpPr>
        <p:spPr>
          <a:xfrm flipH="1" rot="10800000">
            <a:off x="-13378" y="3525012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rgbClr val="E26064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POSITION DU TEXTE 01">
  <p:cSld name="DISPOSITION DU TEXTE 0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 title="Puces"/>
          <p:cNvSpPr txBox="1"/>
          <p:nvPr>
            <p:ph idx="1" type="body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14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4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fmla="val 186380" name="adj"/>
            </a:avLst>
          </a:prstGeom>
          <a:solidFill>
            <a:srgbClr val="E260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4"/>
          <p:cNvCxnSpPr/>
          <p:nvPr/>
        </p:nvCxnSpPr>
        <p:spPr>
          <a:xfrm flipH="1" rot="10800000">
            <a:off x="4781550" y="3785308"/>
            <a:ext cx="1143431" cy="1352550"/>
          </a:xfrm>
          <a:prstGeom prst="straightConnector1">
            <a:avLst/>
          </a:prstGeom>
          <a:noFill/>
          <a:ln cap="flat" cmpd="sng" w="9525">
            <a:solidFill>
              <a:srgbClr val="EE957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" name="Google Shape;22;p14" title="Sous-titre"/>
          <p:cNvSpPr txBox="1"/>
          <p:nvPr>
            <p:ph idx="2" type="body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14" title="Titre "/>
          <p:cNvSpPr txBox="1"/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14"/>
          <p:cNvSpPr/>
          <p:nvPr>
            <p:ph idx="3" type="pic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 avec sous-titre">
  <p:cSld name="Comparaison avec sous-titr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15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cap="flat" cmpd="sng" w="9525">
            <a:solidFill>
              <a:srgbClr val="EE957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9" name="Google Shape;29;p15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30" name="Google Shape;30;p15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" name="Google Shape;31;p15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" name="Google Shape;32;p15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rgbClr val="EE957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" name="Google Shape;33;p15"/>
          <p:cNvSpPr txBox="1"/>
          <p:nvPr>
            <p:ph idx="1" type="body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b="1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15" title="Puces"/>
          <p:cNvSpPr txBox="1"/>
          <p:nvPr>
            <p:ph idx="2" type="body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15"/>
          <p:cNvSpPr txBox="1"/>
          <p:nvPr>
            <p:ph idx="3" type="body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b="1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15" title="Puces"/>
          <p:cNvSpPr txBox="1"/>
          <p:nvPr>
            <p:ph idx="4" type="body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15" title="Sous-titre"/>
          <p:cNvSpPr txBox="1"/>
          <p:nvPr>
            <p:ph idx="5" type="body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15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rgbClr val="E260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5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1" name="Google Shape;41;p15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-tête de section avec image">
  <p:cSld name="En-tête de section avec imag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6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6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fmla="val 53218" name="adj"/>
            </a:avLst>
          </a:prstGeom>
          <a:solidFill>
            <a:srgbClr val="EE957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16"/>
          <p:cNvCxnSpPr/>
          <p:nvPr/>
        </p:nvCxnSpPr>
        <p:spPr>
          <a:xfrm flipH="1" rot="10800000">
            <a:off x="0" y="757568"/>
            <a:ext cx="1338943" cy="680629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" name="Google Shape;46;p16" title="Titre"/>
          <p:cNvSpPr txBox="1"/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b="1" sz="3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16" title="Sous-titre"/>
          <p:cNvSpPr txBox="1"/>
          <p:nvPr>
            <p:ph idx="1" type="body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48" name="Google Shape;48;p16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" name="Google Shape;49;p16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fmla="val 195850" name="adj"/>
            </a:avLst>
          </a:prstGeom>
          <a:solidFill>
            <a:srgbClr val="E260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16"/>
          <p:cNvCxnSpPr/>
          <p:nvPr/>
        </p:nvCxnSpPr>
        <p:spPr>
          <a:xfrm flipH="1" rot="10800000">
            <a:off x="0" y="306422"/>
            <a:ext cx="4946515" cy="2552361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" name="Google Shape;51;p16"/>
          <p:cNvSpPr/>
          <p:nvPr>
            <p:ph idx="2" type="pic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52" name="Google Shape;52;p16"/>
          <p:cNvCxnSpPr/>
          <p:nvPr/>
        </p:nvCxnSpPr>
        <p:spPr>
          <a:xfrm flipH="1" rot="10800000">
            <a:off x="-13378" y="3950208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" name="Google Shape;53;p16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fmla="val 53218" name="adj"/>
            </a:avLst>
          </a:prstGeom>
          <a:solidFill>
            <a:srgbClr val="A5A5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que">
  <p:cSld name="Graphiqu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7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56" name="Google Shape;56;p17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7" name="Google Shape;57;p17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8" name="Google Shape;58;p17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rgbClr val="EE957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17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rgbClr val="E260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7" title="Sous-titre"/>
          <p:cNvSpPr txBox="1"/>
          <p:nvPr>
            <p:ph idx="1" type="body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63" name="Google Shape;63;p17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2" type="body"/>
          </p:nvPr>
        </p:nvSpPr>
        <p:spPr>
          <a:xfrm>
            <a:off x="398860" y="1504321"/>
            <a:ext cx="3919323" cy="30629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7" title="Graphique"/>
          <p:cNvSpPr/>
          <p:nvPr>
            <p:ph idx="3" type="chart"/>
          </p:nvPr>
        </p:nvSpPr>
        <p:spPr>
          <a:xfrm>
            <a:off x="4347086" y="1504322"/>
            <a:ext cx="4289548" cy="306335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position du texte 02">
  <p:cSld name="Disposition du texte 0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8"/>
          <p:cNvSpPr/>
          <p:nvPr>
            <p:ph idx="2" type="pic"/>
          </p:nvPr>
        </p:nvSpPr>
        <p:spPr>
          <a:xfrm>
            <a:off x="4627633" y="1076325"/>
            <a:ext cx="4516366" cy="406717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69" name="Google Shape;69;p18" title="Puces"/>
          <p:cNvSpPr txBox="1"/>
          <p:nvPr>
            <p:ph idx="1" type="body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8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fmla="val 186380" name="adj"/>
            </a:avLst>
          </a:prstGeom>
          <a:solidFill>
            <a:srgbClr val="E260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18"/>
          <p:cNvCxnSpPr/>
          <p:nvPr/>
        </p:nvCxnSpPr>
        <p:spPr>
          <a:xfrm flipH="1" rot="10800000">
            <a:off x="7764236" y="889089"/>
            <a:ext cx="1379764" cy="1225461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" name="Google Shape;72;p18" title="Sous-titre"/>
          <p:cNvSpPr txBox="1"/>
          <p:nvPr>
            <p:ph idx="3" type="body"/>
          </p:nvPr>
        </p:nvSpPr>
        <p:spPr>
          <a:xfrm>
            <a:off x="398534" y="1922608"/>
            <a:ext cx="5506966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8"/>
          <p:cNvSpPr txBox="1"/>
          <p:nvPr/>
        </p:nvSpPr>
        <p:spPr>
          <a:xfrm>
            <a:off x="8305038" y="178308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fr" sz="2600" u="none" cap="none" strike="noStrik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8" title="Titre "/>
          <p:cNvSpPr txBox="1"/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au">
  <p:cSld name="Tableau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 title="Tableau"/>
          <p:cNvSpPr/>
          <p:nvPr>
            <p:ph idx="2" type="tbl"/>
          </p:nvPr>
        </p:nvSpPr>
        <p:spPr>
          <a:xfrm>
            <a:off x="398533" y="1998602"/>
            <a:ext cx="8245031" cy="25748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9" name="Google Shape;79;p19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80" name="Google Shape;80;p19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1" name="Google Shape;81;p19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2" name="Google Shape;82;p19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Google Shape;83;p19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9" title="Sous-titre"/>
          <p:cNvSpPr txBox="1"/>
          <p:nvPr>
            <p:ph idx="1" type="body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9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7" name="Google Shape;87;p19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nde photo">
  <p:cSld name="Grande photo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/>
          <p:nvPr/>
        </p:nvSpPr>
        <p:spPr>
          <a:xfrm flipH="1" rot="10800000">
            <a:off x="0" y="-4"/>
            <a:ext cx="8810625" cy="472440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0" title="Image"/>
          <p:cNvSpPr/>
          <p:nvPr>
            <p:ph idx="2" type="pic"/>
          </p:nvPr>
        </p:nvSpPr>
        <p:spPr>
          <a:xfrm>
            <a:off x="269422" y="244928"/>
            <a:ext cx="8605156" cy="4653644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91" name="Google Shape;91;p20"/>
          <p:cNvCxnSpPr/>
          <p:nvPr/>
        </p:nvCxnSpPr>
        <p:spPr>
          <a:xfrm flipH="1" rot="10800000">
            <a:off x="0" y="4008665"/>
            <a:ext cx="1771650" cy="930729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" name="Google Shape;92;p20" title="Titre "/>
          <p:cNvSpPr txBox="1"/>
          <p:nvPr>
            <p:ph type="title"/>
          </p:nvPr>
        </p:nvSpPr>
        <p:spPr>
          <a:xfrm>
            <a:off x="269422" y="419101"/>
            <a:ext cx="6249917" cy="704849"/>
          </a:xfrm>
          <a:prstGeom prst="rect">
            <a:avLst/>
          </a:prstGeom>
          <a:solidFill>
            <a:schemeClr val="lt1">
              <a:alpha val="89411"/>
            </a:schemeClr>
          </a:solidFill>
          <a:ln>
            <a:noFill/>
          </a:ln>
        </p:spPr>
        <p:txBody>
          <a:bodyPr anchorCtr="0" anchor="ctr" bIns="0" lIns="216000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rci">
  <p:cSld name="Merci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5117197" y="2595872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21"/>
          <p:cNvSpPr txBox="1"/>
          <p:nvPr>
            <p:ph idx="2" type="body"/>
          </p:nvPr>
        </p:nvSpPr>
        <p:spPr>
          <a:xfrm>
            <a:off x="5117197" y="287958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3" type="body"/>
          </p:nvPr>
        </p:nvSpPr>
        <p:spPr>
          <a:xfrm>
            <a:off x="5117196" y="3162502"/>
            <a:ext cx="2584337" cy="2168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idx="4" type="body"/>
          </p:nvPr>
        </p:nvSpPr>
        <p:spPr>
          <a:xfrm>
            <a:off x="5117197" y="344621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21"/>
          <p:cNvSpPr/>
          <p:nvPr/>
        </p:nvSpPr>
        <p:spPr>
          <a:xfrm>
            <a:off x="4844204" y="2628935"/>
            <a:ext cx="194156" cy="194156"/>
          </a:xfrm>
          <a:custGeom>
            <a:rect b="b" l="l" r="r" t="t"/>
            <a:pathLst>
              <a:path extrusionOk="0" h="21600" w="2160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1"/>
          <p:cNvSpPr/>
          <p:nvPr/>
        </p:nvSpPr>
        <p:spPr>
          <a:xfrm>
            <a:off x="4880717" y="2923490"/>
            <a:ext cx="121130" cy="222071"/>
          </a:xfrm>
          <a:custGeom>
            <a:rect b="b" l="l" r="r" t="t"/>
            <a:pathLst>
              <a:path extrusionOk="0" h="21600" w="2160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1"/>
          <p:cNvSpPr/>
          <p:nvPr/>
        </p:nvSpPr>
        <p:spPr>
          <a:xfrm>
            <a:off x="4844204" y="3245959"/>
            <a:ext cx="194156" cy="141205"/>
          </a:xfrm>
          <a:custGeom>
            <a:rect b="b" l="l" r="r" t="t"/>
            <a:pathLst>
              <a:path extrusionOk="0" h="21600" w="2160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1"/>
          <p:cNvSpPr/>
          <p:nvPr/>
        </p:nvSpPr>
        <p:spPr>
          <a:xfrm>
            <a:off x="4853787" y="3487561"/>
            <a:ext cx="174989" cy="174989"/>
          </a:xfrm>
          <a:custGeom>
            <a:rect b="b" l="l" r="r" t="t"/>
            <a:pathLst>
              <a:path extrusionOk="0" h="21600" w="2160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1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21"/>
          <p:cNvCxnSpPr/>
          <p:nvPr/>
        </p:nvCxnSpPr>
        <p:spPr>
          <a:xfrm flipH="1" rot="10800000">
            <a:off x="0" y="0"/>
            <a:ext cx="4523015" cy="2253342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" name="Google Shape;104;p21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" name="Google Shape;105;p21"/>
          <p:cNvCxnSpPr/>
          <p:nvPr/>
        </p:nvCxnSpPr>
        <p:spPr>
          <a:xfrm flipH="1" rot="10800000">
            <a:off x="-13378" y="3525012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" name="Google Shape;106;p21"/>
          <p:cNvSpPr/>
          <p:nvPr>
            <p:ph idx="5" type="pic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1" title="Titre"/>
          <p:cNvSpPr txBox="1"/>
          <p:nvPr>
            <p:ph type="ctrTitle"/>
          </p:nvPr>
        </p:nvSpPr>
        <p:spPr>
          <a:xfrm>
            <a:off x="4781791" y="1365767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b="1" sz="3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>
  <p:cSld name="Diapositive de titre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22"/>
          <p:cNvCxnSpPr/>
          <p:nvPr/>
        </p:nvCxnSpPr>
        <p:spPr>
          <a:xfrm flipH="1" rot="10800000">
            <a:off x="0" y="0"/>
            <a:ext cx="4523015" cy="2253342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" name="Google Shape;111;p22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22" title="Titre"/>
          <p:cNvSpPr txBox="1"/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b="1" sz="3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2" title="Sous-titre"/>
          <p:cNvSpPr txBox="1"/>
          <p:nvPr>
            <p:ph idx="1" type="subTitle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14" name="Google Shape;114;p22"/>
          <p:cNvCxnSpPr/>
          <p:nvPr/>
        </p:nvCxnSpPr>
        <p:spPr>
          <a:xfrm flipH="1" rot="10800000">
            <a:off x="-13378" y="3525012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-tête de section">
  <p:cSld name="En-tête de sectio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3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fmla="val 5321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23"/>
          <p:cNvCxnSpPr/>
          <p:nvPr/>
        </p:nvCxnSpPr>
        <p:spPr>
          <a:xfrm flipH="1" rot="10800000">
            <a:off x="0" y="757568"/>
            <a:ext cx="1338943" cy="680629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" name="Google Shape;119;p23" title="Titre"/>
          <p:cNvSpPr txBox="1"/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b="1" sz="3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3" title="Sous-titre"/>
          <p:cNvSpPr txBox="1"/>
          <p:nvPr>
            <p:ph idx="1" type="body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21" name="Google Shape;121;p23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" name="Google Shape;122;p23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fmla="val 19585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23"/>
          <p:cNvCxnSpPr/>
          <p:nvPr/>
        </p:nvCxnSpPr>
        <p:spPr>
          <a:xfrm flipH="1" rot="10800000">
            <a:off x="0" y="306422"/>
            <a:ext cx="4946515" cy="2552361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" name="Google Shape;124;p23"/>
          <p:cNvCxnSpPr/>
          <p:nvPr/>
        </p:nvCxnSpPr>
        <p:spPr>
          <a:xfrm flipH="1" rot="10800000">
            <a:off x="-13378" y="3950208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" name="Google Shape;125;p23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fmla="val 5321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>
  <p:cSld name="Titre et contenu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" name="Google Shape;127;p24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28" name="Google Shape;128;p24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29" name="Google Shape;129;p24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0" name="Google Shape;130;p24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1" name="Google Shape;131;p24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24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fr" sz="2600" u="none" cap="none" strike="noStrik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4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4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4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36" name="Google Shape;136;p24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389008" y="1253943"/>
            <a:ext cx="8126342" cy="33787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>
  <p:cSld name="Deux contenus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" name="Google Shape;139;p25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40" name="Google Shape;140;p25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41" name="Google Shape;141;p25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2" name="Google Shape;142;p25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3" name="Google Shape;143;p25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p25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fr" sz="2600" u="none" cap="none" strike="noStrik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5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5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25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48" name="Google Shape;148;p25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97265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" name="Google Shape;150;p25"/>
          <p:cNvSpPr txBox="1"/>
          <p:nvPr>
            <p:ph idx="2" type="body"/>
          </p:nvPr>
        </p:nvSpPr>
        <p:spPr>
          <a:xfrm>
            <a:off x="4629150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>
  <p:cSld name="Comparaison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2" name="Google Shape;152;p2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53" name="Google Shape;153;p2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54" name="Google Shape;154;p2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5" name="Google Shape;155;p26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6" name="Google Shape;156;p2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p26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fr" sz="2600" u="none" cap="none" strike="noStrik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6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26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61" name="Google Shape;161;p26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26"/>
          <p:cNvSpPr txBox="1"/>
          <p:nvPr>
            <p:ph idx="1" type="body"/>
          </p:nvPr>
        </p:nvSpPr>
        <p:spPr>
          <a:xfrm>
            <a:off x="389008" y="1260872"/>
            <a:ext cx="4036876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3" name="Google Shape;163;p26"/>
          <p:cNvSpPr txBox="1"/>
          <p:nvPr>
            <p:ph idx="2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26"/>
          <p:cNvSpPr txBox="1"/>
          <p:nvPr>
            <p:ph idx="3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5" name="Google Shape;165;p26"/>
          <p:cNvSpPr txBox="1"/>
          <p:nvPr>
            <p:ph idx="4" type="body"/>
          </p:nvPr>
        </p:nvSpPr>
        <p:spPr>
          <a:xfrm>
            <a:off x="389008" y="1878806"/>
            <a:ext cx="4043812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>
  <p:cSld name="Contenu avec légende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27"/>
          <p:cNvCxnSpPr/>
          <p:nvPr/>
        </p:nvCxnSpPr>
        <p:spPr>
          <a:xfrm flipH="1" rot="10800000">
            <a:off x="0" y="0"/>
            <a:ext cx="4523015" cy="2253342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9" name="Google Shape;169;p27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0" name="Google Shape;170;p27" title="Titre"/>
          <p:cNvSpPr txBox="1"/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b="1" sz="3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71" name="Google Shape;171;p27"/>
          <p:cNvCxnSpPr/>
          <p:nvPr/>
        </p:nvCxnSpPr>
        <p:spPr>
          <a:xfrm flipH="1" rot="10800000">
            <a:off x="-13378" y="3525012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3" name="Google Shape;173;p27"/>
          <p:cNvSpPr txBox="1"/>
          <p:nvPr>
            <p:ph idx="2" type="body"/>
          </p:nvPr>
        </p:nvSpPr>
        <p:spPr>
          <a:xfrm>
            <a:off x="4620987" y="1718035"/>
            <a:ext cx="4352754" cy="32563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>
  <p:cSld name="Image avec légende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28"/>
          <p:cNvCxnSpPr/>
          <p:nvPr/>
        </p:nvCxnSpPr>
        <p:spPr>
          <a:xfrm flipH="1" rot="10800000">
            <a:off x="0" y="0"/>
            <a:ext cx="4523015" cy="2253342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7" name="Google Shape;177;p28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8" name="Google Shape;178;p28" title="Titre"/>
          <p:cNvSpPr txBox="1"/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b="1" sz="3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79" name="Google Shape;179;p28"/>
          <p:cNvCxnSpPr/>
          <p:nvPr/>
        </p:nvCxnSpPr>
        <p:spPr>
          <a:xfrm flipH="1" rot="10800000">
            <a:off x="-13378" y="3525012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0" name="Google Shape;180;p28"/>
          <p:cNvSpPr txBox="1"/>
          <p:nvPr>
            <p:ph idx="1" type="body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1" name="Google Shape;181;p28"/>
          <p:cNvSpPr/>
          <p:nvPr>
            <p:ph idx="2" type="pic"/>
          </p:nvPr>
        </p:nvSpPr>
        <p:spPr>
          <a:xfrm>
            <a:off x="4687477" y="1703895"/>
            <a:ext cx="4286263" cy="327053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>
  <p:cSld name="Vide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fr" sz="2600" u="none" cap="none" strike="noStrik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" name="Google Shape;184;p29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85" name="Google Shape;185;p29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6" name="Google Shape;186;p29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87" name="Google Shape;187;p29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29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9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29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uniquement">
  <p:cSld name="Titre uniquemen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fr" sz="2600" u="none" cap="none" strike="noStrik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" name="Google Shape;193;p3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94" name="Google Shape;194;p3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5" name="Google Shape;195;p30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6" name="Google Shape;196;p3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p3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0" title="Titre "/>
          <p:cNvSpPr txBox="1"/>
          <p:nvPr>
            <p:ph type="title"/>
          </p:nvPr>
        </p:nvSpPr>
        <p:spPr>
          <a:xfrm>
            <a:off x="389008" y="156771"/>
            <a:ext cx="6249917" cy="9116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30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0" name="Google Shape;200;p30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position personnalisée">
  <p:cSld name="Disposition personnalisée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" name="Google Shape;8;p12"/>
          <p:cNvSpPr txBox="1"/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i="0" sz="3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" title="Image de bâtiment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784" r="20784" t="0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descr="Hexagone de couleur foncée unie au milieu d’accentuation d’image" id="209" name="Google Shape;209;p1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"/>
          <p:cNvSpPr txBox="1"/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/>
              <a:t>Création et utilisation de la base de données</a:t>
            </a:r>
            <a:endParaRPr/>
          </a:p>
        </p:txBody>
      </p:sp>
      <p:sp>
        <p:nvSpPr>
          <p:cNvPr id="211" name="Google Shape;211;p1"/>
          <p:cNvSpPr txBox="1"/>
          <p:nvPr>
            <p:ph idx="1" type="subTitle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/>
              <a:t>Vincent Boutillier</a:t>
            </a:r>
            <a:endParaRPr/>
          </a:p>
        </p:txBody>
      </p:sp>
      <p:pic>
        <p:nvPicPr>
          <p:cNvPr descr="https://lh5.googleusercontent.com/TcdnvzxQ7ulQo8GiFwfIKujloK6EfAJv7ikP-EvnfdTVQnROS3WXw6XSx9Cpd73e_l7GCUAnbxroB-qlzG2fvYdCyl-Y5QZ95MpiD-GfDN-4taJyHRqsr3vOZzc3ONTBu52b0HIdUOMeHvdHiA_5tD0" id="212" name="Google Shape;21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0217" y="3713672"/>
            <a:ext cx="4303784" cy="14298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5.googleusercontent.com/TcdnvzxQ7ulQo8GiFwfIKujloK6EfAJv7ikP-EvnfdTVQnROS3WXw6XSx9Cpd73e_l7GCUAnbxroB-qlzG2fvYdCyl-Y5QZ95MpiD-GfDN-4taJyHRqsr3vOZzc3ONTBu52b0HIdUOMeHvdHiA_5tD0" id="213" name="Google Shape;213;p1"/>
          <p:cNvPicPr preferRelativeResize="0"/>
          <p:nvPr/>
        </p:nvPicPr>
        <p:blipFill rotWithShape="1">
          <a:blip r:embed="rId5">
            <a:alphaModFix/>
          </a:blip>
          <a:srcRect b="13972" l="11387" r="63940" t="12667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"/>
          <p:cNvSpPr txBox="1"/>
          <p:nvPr/>
        </p:nvSpPr>
        <p:spPr>
          <a:xfrm>
            <a:off x="6412175" y="169075"/>
            <a:ext cx="2027400" cy="16395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 pas hésiter à modifier les visuels et à créer des slides peu chargées.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Bon courage 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"/>
          <p:cNvSpPr txBox="1"/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/>
              <a:t>Contexte du projet</a:t>
            </a:r>
            <a:endParaRPr/>
          </a:p>
        </p:txBody>
      </p:sp>
      <p:sp>
        <p:nvSpPr>
          <p:cNvPr id="221" name="Google Shape;221;p2"/>
          <p:cNvSpPr txBox="1"/>
          <p:nvPr>
            <p:ph idx="2" type="body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/>
              <a:t>DATAImmo</a:t>
            </a:r>
            <a:endParaRPr/>
          </a:p>
        </p:txBody>
      </p:sp>
      <p:sp>
        <p:nvSpPr>
          <p:cNvPr id="222" name="Google Shape;222;p2"/>
          <p:cNvSpPr txBox="1"/>
          <p:nvPr>
            <p:ph idx="1" type="body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Compte rendu de réunion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Schéma Relationnel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Règles et besoins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Revue et modification de BDD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Analyse de données foncières du premier Semestre 2020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p2" title="Horizon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23312" r="23313" t="0"/>
          <a:stretch/>
        </p:blipFill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224" name="Google Shape;224;p2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225" name="Google Shape;225;p2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"/>
          <p:cNvSpPr txBox="1"/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b="0" lang="fr"/>
              <a:t>La stratégie de sauvegarde et la conformité RGPD</a:t>
            </a:r>
            <a:endParaRPr b="0"/>
          </a:p>
        </p:txBody>
      </p:sp>
      <p:sp>
        <p:nvSpPr>
          <p:cNvPr id="232" name="Google Shape;232;p3"/>
          <p:cNvSpPr txBox="1"/>
          <p:nvPr>
            <p:ph idx="2" type="body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Utilisation des données publiques : 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fr"/>
              <a:t>Demande de valeurs foncières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fr"/>
              <a:t>Données INSEE (recensements)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fr"/>
              <a:t>Données data.gouv :</a:t>
            </a:r>
            <a:endParaRPr/>
          </a:p>
          <a:p>
            <a:pPr indent="-3175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fr"/>
              <a:t>Régions, communes, unités urbaines, départements..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Suppression des données non-conformes (Adresses personnelles et identités des acheteurs/acquéreurs)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Préparation de la base de données pour futures utilisations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34" name="Google Shape;234;p3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"/>
          <p:cNvSpPr txBox="1"/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b="0" lang="fr"/>
              <a:t>Les données initiales</a:t>
            </a:r>
            <a:endParaRPr b="0"/>
          </a:p>
        </p:txBody>
      </p:sp>
      <p:sp>
        <p:nvSpPr>
          <p:cNvPr id="241" name="Google Shape;241;p4"/>
          <p:cNvSpPr txBox="1"/>
          <p:nvPr>
            <p:ph idx="2" type="body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Utilisation des données initiales pour création de la base de données 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Référentiel géographique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fr"/>
              <a:t>Données sur les régions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fr"/>
              <a:t>Données sur les départements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fr"/>
              <a:t>Données sur les communes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Référentiel des biens immobiliers : 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fr"/>
              <a:t>Valeur de la transaction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fr"/>
              <a:t>Date de vente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fr"/>
              <a:t>Surface du bien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fr"/>
              <a:t>Localisation</a:t>
            </a:r>
            <a:endParaRPr/>
          </a:p>
        </p:txBody>
      </p:sp>
      <p:sp>
        <p:nvSpPr>
          <p:cNvPr id="242" name="Google Shape;242;p4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43" name="Google Shape;243;p4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"/>
          <p:cNvSpPr txBox="1"/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b="0" lang="fr"/>
              <a:t>L’extrait du dictionnaire des données</a:t>
            </a:r>
            <a:endParaRPr b="0"/>
          </a:p>
        </p:txBody>
      </p:sp>
      <p:sp>
        <p:nvSpPr>
          <p:cNvPr id="250" name="Google Shape;250;p5"/>
          <p:cNvSpPr txBox="1"/>
          <p:nvPr>
            <p:ph idx="2" type="body"/>
          </p:nvPr>
        </p:nvSpPr>
        <p:spPr>
          <a:xfrm>
            <a:off x="389000" y="1098975"/>
            <a:ext cx="6978600" cy="16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69227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fr"/>
              <a:t>Extrait de la table “Biens” du dictionnaire de données.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958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fr" sz="1300"/>
              <a:t>CF annexe pour le dictionnaire complet</a:t>
            </a:r>
            <a:endParaRPr sz="1300"/>
          </a:p>
        </p:txBody>
      </p:sp>
      <p:sp>
        <p:nvSpPr>
          <p:cNvPr id="251" name="Google Shape;251;p5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52" name="Google Shape;252;p5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975" y="3133249"/>
            <a:ext cx="7503600" cy="16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6"/>
          <p:cNvSpPr txBox="1"/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b="0" lang="fr"/>
              <a:t>Le schéma relationnel normalisé</a:t>
            </a:r>
            <a:endParaRPr b="0"/>
          </a:p>
        </p:txBody>
      </p:sp>
      <p:sp>
        <p:nvSpPr>
          <p:cNvPr id="260" name="Google Shape;260;p6"/>
          <p:cNvSpPr txBox="1"/>
          <p:nvPr>
            <p:ph idx="2" type="body"/>
          </p:nvPr>
        </p:nvSpPr>
        <p:spPr>
          <a:xfrm>
            <a:off x="390524" y="1552750"/>
            <a:ext cx="2460300" cy="30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Tables correspondantes à la demande de la réunion (cf mail Clara)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Données brutes triées et respectant les normes RGPD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6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62" name="Google Shape;262;p6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2699" y="573775"/>
            <a:ext cx="6251300" cy="446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 txBox="1"/>
          <p:nvPr>
            <p:ph type="title"/>
          </p:nvPr>
        </p:nvSpPr>
        <p:spPr>
          <a:xfrm>
            <a:off x="390533" y="513171"/>
            <a:ext cx="46899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b="0" lang="fr"/>
              <a:t>La base de données avec les tables créées et les données chargées</a:t>
            </a:r>
            <a:endParaRPr b="0"/>
          </a:p>
        </p:txBody>
      </p:sp>
      <p:sp>
        <p:nvSpPr>
          <p:cNvPr id="270" name="Google Shape;270;p7"/>
          <p:cNvSpPr txBox="1"/>
          <p:nvPr>
            <p:ph idx="2" type="body"/>
          </p:nvPr>
        </p:nvSpPr>
        <p:spPr>
          <a:xfrm>
            <a:off x="390525" y="2293475"/>
            <a:ext cx="3210000" cy="18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10000"/>
          </a:bodyPr>
          <a:lstStyle/>
          <a:p>
            <a:pPr indent="-169227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fr"/>
              <a:t>Base de données correspondant au Schéma relationnel et au dictionnaire de données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69227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fr"/>
              <a:t>Table temporaire non supprimée pour monter le processus de création de la table</a:t>
            </a:r>
            <a:endParaRPr/>
          </a:p>
        </p:txBody>
      </p:sp>
      <p:sp>
        <p:nvSpPr>
          <p:cNvPr id="271" name="Google Shape;271;p7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72" name="Google Shape;272;p7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4625" y="1654825"/>
            <a:ext cx="4238625" cy="24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"/>
          <p:cNvSpPr txBox="1"/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lang="fr" sz="2400"/>
              <a:t>Les requêtes ou screenshot qui permettent de démontrer le bon chargement des données</a:t>
            </a:r>
            <a:endParaRPr b="0" sz="2400"/>
          </a:p>
        </p:txBody>
      </p:sp>
      <p:sp>
        <p:nvSpPr>
          <p:cNvPr id="280" name="Google Shape;280;p8"/>
          <p:cNvSpPr txBox="1"/>
          <p:nvPr>
            <p:ph idx="2" type="body"/>
          </p:nvPr>
        </p:nvSpPr>
        <p:spPr>
          <a:xfrm>
            <a:off x="390525" y="1552750"/>
            <a:ext cx="3564900" cy="21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f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Requête 1 : Nombres d’appartements vendus au premier semestre 2020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*Annexe 3 contient les autres requêtes SQL associées.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8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82" name="Google Shape;282;p8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8300" y="3547788"/>
            <a:ext cx="34671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8"/>
          <p:cNvSpPr txBox="1"/>
          <p:nvPr>
            <p:ph idx="2" type="body"/>
          </p:nvPr>
        </p:nvSpPr>
        <p:spPr>
          <a:xfrm>
            <a:off x="5078800" y="1552750"/>
            <a:ext cx="3086100" cy="16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 COUNT(*) AS nb_appartements_1er_sem_2020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Ventes v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JOIN Biens b ON v.Id_bien = b.Id_bien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 b.Type_local = 'Appartement'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v.Date_vente &gt;= '2020-01-01'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v.Date_vente &lt;= '2020-06-30';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9" title="Image de bâtiment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784" r="20784" t="0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descr="Hexagone de couleur foncée unie au milieu d’accentuation d’image" id="291" name="Google Shape;291;p9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 txBox="1"/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b="0" lang="fr"/>
              <a:t>Continuité de la BDD</a:t>
            </a:r>
            <a:endParaRPr/>
          </a:p>
        </p:txBody>
      </p:sp>
      <p:sp>
        <p:nvSpPr>
          <p:cNvPr descr="Hexagone de couleur foncée unie au milieu d’accentuation d’image" id="293" name="Google Shape;293;p9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lh5.googleusercontent.com/TcdnvzxQ7ulQo8GiFwfIKujloK6EfAJv7ikP-EvnfdTVQnROS3WXw6XSx9Cpd73e_l7GCUAnbxroB-qlzG2fvYdCyl-Y5QZ95MpiD-GfDN-4taJyHRqsr3vOZzc3ONTBu52b0HIdUOMeHvdHiA_5tD0" id="294" name="Google Shape;294;p9"/>
          <p:cNvPicPr preferRelativeResize="0"/>
          <p:nvPr/>
        </p:nvPicPr>
        <p:blipFill rotWithShape="1">
          <a:blip r:embed="rId4">
            <a:alphaModFix/>
          </a:blip>
          <a:srcRect b="13972" l="11387" r="63940" t="12667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title="Image de bâtiment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784" r="20784" t="0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descr="Hexagone de couleur foncée unie au milieu d’accentuation d’image" id="301" name="Google Shape;301;p11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 txBox="1"/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fr"/>
              <a:t>Merci !</a:t>
            </a:r>
            <a:endParaRPr/>
          </a:p>
        </p:txBody>
      </p:sp>
      <p:pic>
        <p:nvPicPr>
          <p:cNvPr descr="https://lh5.googleusercontent.com/TcdnvzxQ7ulQo8GiFwfIKujloK6EfAJv7ikP-EvnfdTVQnROS3WXw6XSx9Cpd73e_l7GCUAnbxroB-qlzG2fvYdCyl-Y5QZ95MpiD-GfDN-4taJyHRqsr3vOZzc3ONTBu52b0HIdUOMeHvdHiA_5tD0" id="303" name="Google Shape;303;p11"/>
          <p:cNvPicPr preferRelativeResize="0"/>
          <p:nvPr/>
        </p:nvPicPr>
        <p:blipFill rotWithShape="1">
          <a:blip r:embed="rId4">
            <a:alphaModFix/>
          </a:blip>
          <a:srcRect b="13972" l="11387" r="63940" t="12667"/>
          <a:stretch/>
        </p:blipFill>
        <p:spPr>
          <a:xfrm>
            <a:off x="1980103" y="1578297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