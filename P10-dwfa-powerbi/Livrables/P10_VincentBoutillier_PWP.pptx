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gXXc7TJ1wvJd4G+XTHCS8MADBz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22960" y="822960"/>
            <a:ext cx="914400" cy="91440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10/icon_droplet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832" y="941832"/>
            <a:ext cx="676656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1920240" y="86868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B7E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85B7EB"/>
                </a:solidFill>
                <a:latin typeface="Calibri"/>
                <a:ea typeface="Calibri"/>
                <a:cs typeface="Calibri"/>
                <a:sym typeface="Calibri"/>
              </a:rPr>
              <a:t>DWFA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22960" y="2468880"/>
            <a:ext cx="10515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Accès à l'eau potable dans le monde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37033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B7EB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85B7EB"/>
                </a:solidFill>
                <a:latin typeface="Calibri"/>
                <a:ea typeface="Calibri"/>
                <a:cs typeface="Calibri"/>
                <a:sym typeface="Calibri"/>
              </a:rPr>
              <a:t>Tableau de bord d'aide à la décision — Projet P10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1"/>
          <p:cNvCxnSpPr/>
          <p:nvPr/>
        </p:nvCxnSpPr>
        <p:spPr>
          <a:xfrm>
            <a:off x="868680" y="5394960"/>
            <a:ext cx="0" cy="548640"/>
          </a:xfrm>
          <a:prstGeom prst="straightConnector1">
            <a:avLst/>
          </a:prstGeom>
          <a:noFill/>
          <a:ln cap="flat" cmpd="sng" w="25400">
            <a:solidFill>
              <a:srgbClr val="378A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1"/>
          <p:cNvSpPr/>
          <p:nvPr/>
        </p:nvSpPr>
        <p:spPr>
          <a:xfrm>
            <a:off x="822960" y="54864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Corbac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822960" y="58521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C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FA3C4"/>
                </a:solidFill>
                <a:latin typeface="Calibri"/>
                <a:ea typeface="Calibri"/>
                <a:cs typeface="Calibri"/>
                <a:sym typeface="Calibri"/>
              </a:rPr>
              <a:t>Soutenance de projet — Master Data Science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8AD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78ADD"/>
                </a:solidFill>
                <a:latin typeface="Calibri"/>
                <a:ea typeface="Calibri"/>
                <a:cs typeface="Calibri"/>
                <a:sym typeface="Calibri"/>
              </a:rPr>
              <a:t>LE CLIENT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D1B3F"/>
                </a:solidFill>
                <a:latin typeface="Cambria"/>
                <a:ea typeface="Cambria"/>
                <a:cs typeface="Cambria"/>
                <a:sym typeface="Cambria"/>
              </a:rPr>
              <a:t>Contexte de la mission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1064240" y="4114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B7E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5B7EB"/>
                </a:solidFill>
                <a:latin typeface="Calibri"/>
                <a:ea typeface="Calibri"/>
                <a:cs typeface="Calibri"/>
                <a:sym typeface="Calibri"/>
              </a:rPr>
              <a:t>DWFA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48640" y="13716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DWFA (Drinking Water For All) accompagne l'amélioration de l'accès à l'eau potable dans le monde, autour de 3 domaines d'expertise.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48640" y="2194560"/>
            <a:ext cx="3474720" cy="2377440"/>
          </a:xfrm>
          <a:prstGeom prst="roundRect">
            <a:avLst>
              <a:gd fmla="val 3077" name="adj"/>
            </a:avLst>
          </a:prstGeom>
          <a:solidFill>
            <a:srgbClr val="F5F8FC"/>
          </a:solidFill>
          <a:ln cap="flat" cmpd="sng" w="12700">
            <a:solidFill>
              <a:srgbClr val="DCE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822960" y="2468880"/>
            <a:ext cx="731520" cy="731520"/>
          </a:xfrm>
          <a:prstGeom prst="ellipse">
            <a:avLst/>
          </a:prstGeom>
          <a:solidFill>
            <a:srgbClr val="2F5C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10/icon_target.png" id="35" name="Google Shape;3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8058" y="2563978"/>
            <a:ext cx="541325" cy="54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"/>
          <p:cNvSpPr/>
          <p:nvPr/>
        </p:nvSpPr>
        <p:spPr>
          <a:xfrm>
            <a:off x="777240" y="333756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B3F"/>
                </a:solidFill>
                <a:latin typeface="Calibri"/>
                <a:ea typeface="Calibri"/>
                <a:cs typeface="Calibri"/>
                <a:sym typeface="Calibri"/>
              </a:rPr>
              <a:t>Création de services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777240" y="388620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Développer des infrastructures là où l'accès manque le plus.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297680" y="2194560"/>
            <a:ext cx="3474720" cy="2377440"/>
          </a:xfrm>
          <a:prstGeom prst="roundRect">
            <a:avLst>
              <a:gd fmla="val 3077" name="adj"/>
            </a:avLst>
          </a:prstGeom>
          <a:solidFill>
            <a:srgbClr val="F5F8FC"/>
          </a:solidFill>
          <a:ln cap="flat" cmpd="sng" w="12700">
            <a:solidFill>
              <a:srgbClr val="DCE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572000" y="2468880"/>
            <a:ext cx="731520" cy="731520"/>
          </a:xfrm>
          <a:prstGeom prst="ellipse">
            <a:avLst/>
          </a:prstGeom>
          <a:solidFill>
            <a:srgbClr val="2F5C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10/icon_broom.png" id="40" name="Google Shape;4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7098" y="2563978"/>
            <a:ext cx="541325" cy="541325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/>
          <p:nvPr/>
        </p:nvSpPr>
        <p:spPr>
          <a:xfrm>
            <a:off x="4526280" y="333756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B3F"/>
                </a:solidFill>
                <a:latin typeface="Calibri"/>
                <a:ea typeface="Calibri"/>
                <a:cs typeface="Calibri"/>
                <a:sym typeface="Calibri"/>
              </a:rPr>
              <a:t>Modernisation des services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526280" y="388620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Améliorer la qualité des infrastructures existantes.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046720" y="2194560"/>
            <a:ext cx="3474720" cy="2377440"/>
          </a:xfrm>
          <a:prstGeom prst="roundRect">
            <a:avLst>
              <a:gd fmla="val 3077" name="adj"/>
            </a:avLst>
          </a:prstGeom>
          <a:solidFill>
            <a:srgbClr val="F5F8FC"/>
          </a:solidFill>
          <a:ln cap="flat" cmpd="sng" w="12700">
            <a:solidFill>
              <a:srgbClr val="DCE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321040" y="2468880"/>
            <a:ext cx="731520" cy="731520"/>
          </a:xfrm>
          <a:prstGeom prst="ellipse">
            <a:avLst/>
          </a:prstGeom>
          <a:solidFill>
            <a:srgbClr val="2F5C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10/icon_user.png" id="45" name="Google Shape;4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16138" y="2563978"/>
            <a:ext cx="541325" cy="54132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/>
          <p:nvPr/>
        </p:nvSpPr>
        <p:spPr>
          <a:xfrm>
            <a:off x="8275320" y="333756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B3F"/>
                </a:solidFill>
                <a:latin typeface="Calibri"/>
                <a:ea typeface="Calibri"/>
                <a:cs typeface="Calibri"/>
                <a:sym typeface="Calibri"/>
              </a:rPr>
              <a:t>Consulting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8275320" y="388620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Accompagner les gouvernements sur leur politique de l'eau.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fmla="val 5926" name="adj"/>
            </a:avLst>
          </a:prstGeom>
          <a:solidFill>
            <a:srgbClr val="0D1B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868680" y="5074920"/>
            <a:ext cx="10424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0" i="1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Objectif : identifier les pays qui rencontrent des difficultés d'accès à l'eau potable, et ceux sur lesquels concentrer nos efforts.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175004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8AD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78ADD"/>
                </a:solidFill>
                <a:latin typeface="Calibri"/>
                <a:ea typeface="Calibri"/>
                <a:cs typeface="Calibri"/>
                <a:sym typeface="Calibri"/>
              </a:rPr>
              <a:t>POINT DE VUE MÉTIER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D1B3F"/>
                </a:solidFill>
                <a:latin typeface="Cambria"/>
                <a:ea typeface="Cambria"/>
                <a:cs typeface="Cambria"/>
                <a:sym typeface="Cambria"/>
              </a:rPr>
              <a:t>Se mettre à la place de l'utilisateur final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11064240" y="4114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B7E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5B7EB"/>
                </a:solidFill>
                <a:latin typeface="Calibri"/>
                <a:ea typeface="Calibri"/>
                <a:cs typeface="Calibri"/>
                <a:sym typeface="Calibri"/>
              </a:rPr>
              <a:t>DWFA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48640" y="1508760"/>
            <a:ext cx="11064240" cy="1371600"/>
          </a:xfrm>
          <a:prstGeom prst="roundRect">
            <a:avLst>
              <a:gd fmla="val 6667" name="adj"/>
            </a:avLst>
          </a:prstGeom>
          <a:solidFill>
            <a:srgbClr val="DCE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868680" y="1645920"/>
            <a:ext cx="10424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1700"/>
              <a:buFont typeface="Cambria"/>
              <a:buNone/>
            </a:pPr>
            <a:r>
              <a:rPr b="0" i="1" lang="en-US" sz="1700" u="none" cap="none" strike="noStrike">
                <a:solidFill>
                  <a:srgbClr val="0D1B3F"/>
                </a:solidFill>
                <a:latin typeface="Cambria"/>
                <a:ea typeface="Cambria"/>
                <a:cs typeface="Cambria"/>
                <a:sym typeface="Cambria"/>
              </a:rPr>
              <a:t>« En tant que chargé de mission DWFA, je veux comparer rapidement l'accès à l'eau potable entre pays et continents, afin de prioriser nos interventions là où l'impact sera le plus fort. »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548640" y="3200400"/>
            <a:ext cx="3474720" cy="2880360"/>
          </a:xfrm>
          <a:prstGeom prst="roundRect">
            <a:avLst>
              <a:gd fmla="val 2540" name="adj"/>
            </a:avLst>
          </a:prstGeom>
          <a:solidFill>
            <a:srgbClr val="FFFFFF"/>
          </a:solidFill>
          <a:ln cap="flat" cmpd="sng" w="15875">
            <a:solidFill>
              <a:srgbClr val="DCE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822960" y="3474720"/>
            <a:ext cx="640080" cy="64008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10/icon_target.png"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6170" y="355793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"/>
          <p:cNvSpPr/>
          <p:nvPr/>
        </p:nvSpPr>
        <p:spPr>
          <a:xfrm>
            <a:off x="777240" y="425196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D1B3F"/>
                </a:solidFill>
                <a:latin typeface="Calibri"/>
                <a:ea typeface="Calibri"/>
                <a:cs typeface="Calibri"/>
                <a:sym typeface="Calibri"/>
              </a:rPr>
              <a:t>Création de services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777240" y="4663440"/>
            <a:ext cx="30175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« Je veux croiser accès à l'eau et taux d'urbanisation pour cibler mes déploiements. »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297680" y="3200400"/>
            <a:ext cx="3474720" cy="2880360"/>
          </a:xfrm>
          <a:prstGeom prst="roundRect">
            <a:avLst>
              <a:gd fmla="val 2540" name="adj"/>
            </a:avLst>
          </a:prstGeom>
          <a:solidFill>
            <a:srgbClr val="FFFFFF"/>
          </a:solidFill>
          <a:ln cap="flat" cmpd="sng" w="15875">
            <a:solidFill>
              <a:srgbClr val="DCE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4572000" y="3474720"/>
            <a:ext cx="640080" cy="64008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10/icon_broom.png" id="68" name="Google Shape;6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5210" y="355793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"/>
          <p:cNvSpPr/>
          <p:nvPr/>
        </p:nvSpPr>
        <p:spPr>
          <a:xfrm>
            <a:off x="4526280" y="425196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D1B3F"/>
                </a:solidFill>
                <a:latin typeface="Calibri"/>
                <a:ea typeface="Calibri"/>
                <a:cs typeface="Calibri"/>
                <a:sym typeface="Calibri"/>
              </a:rPr>
              <a:t>Modernisation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526280" y="4663440"/>
            <a:ext cx="30175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« Je veux repérer les pays au plus fort écart entre accès basique et accès sécurisé. »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8046720" y="3200400"/>
            <a:ext cx="3474720" cy="2880360"/>
          </a:xfrm>
          <a:prstGeom prst="roundRect">
            <a:avLst>
              <a:gd fmla="val 2540" name="adj"/>
            </a:avLst>
          </a:prstGeom>
          <a:solidFill>
            <a:srgbClr val="FFFFFF"/>
          </a:solidFill>
          <a:ln cap="flat" cmpd="sng" w="15875">
            <a:solidFill>
              <a:srgbClr val="DCE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8321040" y="3474720"/>
            <a:ext cx="640080" cy="64008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10/icon_user.png" id="73" name="Google Shape;7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04250" y="355793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/>
          <p:nvPr/>
        </p:nvSpPr>
        <p:spPr>
          <a:xfrm>
            <a:off x="8275320" y="425196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D1B3F"/>
                </a:solidFill>
                <a:latin typeface="Calibri"/>
                <a:ea typeface="Calibri"/>
                <a:cs typeface="Calibri"/>
                <a:sym typeface="Calibri"/>
              </a:rPr>
              <a:t>Consulting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8275320" y="4663440"/>
            <a:ext cx="30175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« Je veux vérifier la stabilité politique d'un pays avant de m'y engager. »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175004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8AD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78ADD"/>
                </a:solidFill>
                <a:latin typeface="Calibri"/>
                <a:ea typeface="Calibri"/>
                <a:cs typeface="Calibri"/>
                <a:sym typeface="Calibri"/>
              </a:rPr>
              <a:t>DONNÉES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D1B3F"/>
                </a:solidFill>
                <a:latin typeface="Cambria"/>
                <a:ea typeface="Cambria"/>
                <a:cs typeface="Cambria"/>
                <a:sym typeface="Cambria"/>
              </a:rPr>
              <a:t>Les données sources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1064240" y="4114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B7E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5B7EB"/>
                </a:solidFill>
                <a:latin typeface="Calibri"/>
                <a:ea typeface="Calibri"/>
                <a:cs typeface="Calibri"/>
                <a:sym typeface="Calibri"/>
              </a:rPr>
              <a:t>DWFA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548640" y="1417320"/>
            <a:ext cx="11064240" cy="841248"/>
          </a:xfrm>
          <a:prstGeom prst="roundRect">
            <a:avLst>
              <a:gd fmla="val 6522" name="adj"/>
            </a:avLst>
          </a:prstGeom>
          <a:solidFill>
            <a:srgbClr val="F5F8FC"/>
          </a:solidFill>
          <a:ln cap="flat" cmpd="sng" w="12700">
            <a:solidFill>
              <a:srgbClr val="DCE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713232" y="1563624"/>
            <a:ext cx="548640" cy="548640"/>
          </a:xfrm>
          <a:prstGeom prst="ellipse">
            <a:avLst/>
          </a:prstGeom>
          <a:solidFill>
            <a:srgbClr val="2F5C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10/icon_database.png" id="87" name="Google Shape;8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555" y="1634947"/>
            <a:ext cx="405994" cy="40599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4"/>
          <p:cNvSpPr/>
          <p:nvPr/>
        </p:nvSpPr>
        <p:spPr>
          <a:xfrm>
            <a:off x="1417320" y="1490472"/>
            <a:ext cx="6949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F"/>
                </a:solidFill>
                <a:latin typeface="Calibri"/>
                <a:ea typeface="Calibri"/>
                <a:cs typeface="Calibri"/>
                <a:sym typeface="Calibri"/>
              </a:rPr>
              <a:t>Population.csv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1417320" y="1856232"/>
            <a:ext cx="6949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FAO — population par pays, année et granularité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8503920" y="1417320"/>
            <a:ext cx="29260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8AD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78ADD"/>
                </a:solidFill>
                <a:latin typeface="Calibri"/>
                <a:ea typeface="Calibri"/>
                <a:cs typeface="Calibri"/>
                <a:sym typeface="Calibri"/>
              </a:rPr>
              <a:t>~20 900 lignes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48640" y="2377440"/>
            <a:ext cx="11064240" cy="841248"/>
          </a:xfrm>
          <a:prstGeom prst="roundRect">
            <a:avLst>
              <a:gd fmla="val 6522" name="adj"/>
            </a:avLst>
          </a:prstGeom>
          <a:solidFill>
            <a:srgbClr val="F5F8FC"/>
          </a:solidFill>
          <a:ln cap="flat" cmpd="sng" w="12700">
            <a:solidFill>
              <a:srgbClr val="DCE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713232" y="2523744"/>
            <a:ext cx="548640" cy="548640"/>
          </a:xfrm>
          <a:prstGeom prst="ellipse">
            <a:avLst/>
          </a:prstGeom>
          <a:solidFill>
            <a:srgbClr val="2F5C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10/icon_database.png" id="93" name="Google Shape;9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555" y="2595067"/>
            <a:ext cx="405994" cy="40599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"/>
          <p:cNvSpPr/>
          <p:nvPr/>
        </p:nvSpPr>
        <p:spPr>
          <a:xfrm>
            <a:off x="1417320" y="2450592"/>
            <a:ext cx="6949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F"/>
                </a:solidFill>
                <a:latin typeface="Calibri"/>
                <a:ea typeface="Calibri"/>
                <a:cs typeface="Calibri"/>
                <a:sym typeface="Calibri"/>
              </a:rPr>
              <a:t>BasicAndSafelyManagedDrinkingWaterServices.csv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1417320" y="2816352"/>
            <a:ext cx="6949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OMS — taux d'accès aux services d'eau potable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8503920" y="2377440"/>
            <a:ext cx="29260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8AD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78ADD"/>
                </a:solidFill>
                <a:latin typeface="Calibri"/>
                <a:ea typeface="Calibri"/>
                <a:cs typeface="Calibri"/>
                <a:sym typeface="Calibri"/>
              </a:rPr>
              <a:t>Basic % / Safely managed 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48640" y="3337560"/>
            <a:ext cx="11064240" cy="841248"/>
          </a:xfrm>
          <a:prstGeom prst="roundRect">
            <a:avLst>
              <a:gd fmla="val 6522" name="adj"/>
            </a:avLst>
          </a:prstGeom>
          <a:solidFill>
            <a:srgbClr val="F5F8FC"/>
          </a:solidFill>
          <a:ln cap="flat" cmpd="sng" w="12700">
            <a:solidFill>
              <a:srgbClr val="DCE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713232" y="3483864"/>
            <a:ext cx="548640" cy="548640"/>
          </a:xfrm>
          <a:prstGeom prst="ellipse">
            <a:avLst/>
          </a:prstGeom>
          <a:solidFill>
            <a:srgbClr val="2F5C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10/icon_database.png" id="99" name="Google Shape;9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555" y="3555187"/>
            <a:ext cx="405994" cy="40599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4"/>
          <p:cNvSpPr/>
          <p:nvPr/>
        </p:nvSpPr>
        <p:spPr>
          <a:xfrm>
            <a:off x="1417320" y="3410712"/>
            <a:ext cx="6949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F"/>
                </a:solidFill>
                <a:latin typeface="Calibri"/>
                <a:ea typeface="Calibri"/>
                <a:cs typeface="Calibri"/>
                <a:sym typeface="Calibri"/>
              </a:rPr>
              <a:t>MortalityRateAttributedToWater.csv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1417320" y="3776472"/>
            <a:ext cx="6949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OMS — mortalité liée à l'eau insalubre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8503920" y="3337560"/>
            <a:ext cx="29260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8AD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78ADD"/>
                </a:solidFill>
                <a:latin typeface="Calibri"/>
                <a:ea typeface="Calibri"/>
                <a:cs typeface="Calibri"/>
                <a:sym typeface="Calibri"/>
              </a:rPr>
              <a:t>Année 2016 uniquement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548640" y="4297680"/>
            <a:ext cx="11064240" cy="841248"/>
          </a:xfrm>
          <a:prstGeom prst="roundRect">
            <a:avLst>
              <a:gd fmla="val 6522" name="adj"/>
            </a:avLst>
          </a:prstGeom>
          <a:solidFill>
            <a:srgbClr val="F5F8FC"/>
          </a:solidFill>
          <a:ln cap="flat" cmpd="sng" w="12700">
            <a:solidFill>
              <a:srgbClr val="DCE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713232" y="4443984"/>
            <a:ext cx="548640" cy="548640"/>
          </a:xfrm>
          <a:prstGeom prst="ellipse">
            <a:avLst/>
          </a:prstGeom>
          <a:solidFill>
            <a:srgbClr val="2F5C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10/icon_database.png"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555" y="4515307"/>
            <a:ext cx="405994" cy="40599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/>
          <p:nvPr/>
        </p:nvSpPr>
        <p:spPr>
          <a:xfrm>
            <a:off x="1417320" y="4370832"/>
            <a:ext cx="6949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F"/>
                </a:solidFill>
                <a:latin typeface="Calibri"/>
                <a:ea typeface="Calibri"/>
                <a:cs typeface="Calibri"/>
                <a:sym typeface="Calibri"/>
              </a:rPr>
              <a:t>PoliticalStability.csv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417320" y="4736592"/>
            <a:ext cx="6949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FAO — indice de stabilité politique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8503920" y="4297680"/>
            <a:ext cx="29260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8AD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78ADD"/>
                </a:solidFill>
                <a:latin typeface="Calibri"/>
                <a:ea typeface="Calibri"/>
                <a:cs typeface="Calibri"/>
                <a:sym typeface="Calibri"/>
              </a:rPr>
              <a:t>2000-2018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548640" y="5257800"/>
            <a:ext cx="11064240" cy="841248"/>
          </a:xfrm>
          <a:prstGeom prst="roundRect">
            <a:avLst>
              <a:gd fmla="val 6522" name="adj"/>
            </a:avLst>
          </a:prstGeom>
          <a:solidFill>
            <a:srgbClr val="F5F8FC"/>
          </a:solidFill>
          <a:ln cap="flat" cmpd="sng" w="12700">
            <a:solidFill>
              <a:srgbClr val="DCE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713232" y="5404104"/>
            <a:ext cx="548640" cy="548640"/>
          </a:xfrm>
          <a:prstGeom prst="ellipse">
            <a:avLst/>
          </a:prstGeom>
          <a:solidFill>
            <a:srgbClr val="2F5C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10/icon_database.png" id="111" name="Google Shape;11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555" y="5475427"/>
            <a:ext cx="405994" cy="40599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/>
          <p:nvPr/>
        </p:nvSpPr>
        <p:spPr>
          <a:xfrm>
            <a:off x="1417320" y="5330952"/>
            <a:ext cx="6949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F"/>
                </a:solidFill>
                <a:latin typeface="Calibri"/>
                <a:ea typeface="Calibri"/>
                <a:cs typeface="Calibri"/>
                <a:sym typeface="Calibri"/>
              </a:rPr>
              <a:t>RegionCountry.csv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1417320" y="5696712"/>
            <a:ext cx="6949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Référentiel pays → continent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8503920" y="5257800"/>
            <a:ext cx="29260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8AD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78ADD"/>
                </a:solidFill>
                <a:latin typeface="Calibri"/>
                <a:ea typeface="Calibri"/>
                <a:cs typeface="Calibri"/>
                <a:sym typeface="Calibri"/>
              </a:rPr>
              <a:t>6 régions OMS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1175004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8AD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78ADD"/>
                </a:solidFill>
                <a:latin typeface="Calibri"/>
                <a:ea typeface="Calibri"/>
                <a:cs typeface="Calibri"/>
                <a:sym typeface="Calibri"/>
              </a:rPr>
              <a:t>PRÉPARATION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D1B3F"/>
                </a:solidFill>
                <a:latin typeface="Cambria"/>
                <a:ea typeface="Cambria"/>
                <a:cs typeface="Cambria"/>
                <a:sym typeface="Cambria"/>
              </a:rPr>
              <a:t>Prétraitement des données — nettoyage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11064240" y="4114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B7E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5B7EB"/>
                </a:solidFill>
                <a:latin typeface="Calibri"/>
                <a:ea typeface="Calibri"/>
                <a:cs typeface="Calibri"/>
                <a:sym typeface="Calibri"/>
              </a:rPr>
              <a:t>DWFA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685800" y="1554480"/>
            <a:ext cx="457200" cy="457200"/>
          </a:xfrm>
          <a:prstGeom prst="roundRect">
            <a:avLst>
              <a:gd fmla="val 12000" name="adj"/>
            </a:avLst>
          </a:prstGeom>
          <a:solidFill>
            <a:srgbClr val="378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685800" y="15544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1371600" y="1508760"/>
            <a:ext cx="9966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B3F"/>
                </a:solidFill>
                <a:latin typeface="Calibri"/>
                <a:ea typeface="Calibri"/>
                <a:cs typeface="Calibri"/>
                <a:sym typeface="Calibri"/>
              </a:rPr>
              <a:t>Renommage des colonnes techniques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371600" y="187452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Basic (%), SafelyManaged (%), MortalityRate, WashDeaths, Stability…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685800" y="2606040"/>
            <a:ext cx="457200" cy="457200"/>
          </a:xfrm>
          <a:prstGeom prst="roundRect">
            <a:avLst>
              <a:gd fmla="val 12000" name="adj"/>
            </a:avLst>
          </a:prstGeom>
          <a:solidFill>
            <a:srgbClr val="378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685800" y="2606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1371600" y="2560320"/>
            <a:ext cx="9966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B3F"/>
                </a:solidFill>
                <a:latin typeface="Calibri"/>
                <a:ea typeface="Calibri"/>
                <a:cs typeface="Calibri"/>
                <a:sym typeface="Calibri"/>
              </a:rPr>
              <a:t>Typage des champs numériques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1371600" y="292608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Conversion avec paramètres régionaux Anglais (États-Unis) — les fichiers utilisent le point comme séparateur décimal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685800" y="3657600"/>
            <a:ext cx="457200" cy="457200"/>
          </a:xfrm>
          <a:prstGeom prst="roundRect">
            <a:avLst>
              <a:gd fmla="val 12000" name="adj"/>
            </a:avLst>
          </a:prstGeom>
          <a:solidFill>
            <a:srgbClr val="378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685800" y="3657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1371600" y="3611880"/>
            <a:ext cx="9966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B3F"/>
                </a:solidFill>
                <a:latin typeface="Calibri"/>
                <a:ea typeface="Calibri"/>
                <a:cs typeface="Calibri"/>
                <a:sym typeface="Calibri"/>
              </a:rPr>
              <a:t>Harmonisation des libellés pays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1371600" y="397764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« North Macedonia » vs « Republic of North Macedonia » selon les fichiers → unifié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685800" y="4709160"/>
            <a:ext cx="457200" cy="457200"/>
          </a:xfrm>
          <a:prstGeom prst="roundRect">
            <a:avLst>
              <a:gd fmla="val 12000" name="adj"/>
            </a:avLst>
          </a:prstGeom>
          <a:solidFill>
            <a:srgbClr val="378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685800" y="4709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1371600" y="4663440"/>
            <a:ext cx="9966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B3F"/>
                </a:solidFill>
                <a:latin typeface="Calibri"/>
                <a:ea typeface="Calibri"/>
                <a:cs typeface="Calibri"/>
                <a:sym typeface="Calibri"/>
              </a:rPr>
              <a:t>Correction d'un doublon sur la Chine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1371600" y="502920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Comptée deux fois dans Population (pays + 4 territoires) → population mondiale corrigée de 9,1 Md à 7,6 Md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1175004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8AD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78ADD"/>
                </a:solidFill>
                <a:latin typeface="Calibri"/>
                <a:ea typeface="Calibri"/>
                <a:cs typeface="Calibri"/>
                <a:sym typeface="Calibri"/>
              </a:rPr>
              <a:t>PRÉPARATION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D1B3F"/>
                </a:solidFill>
                <a:latin typeface="Cambria"/>
                <a:ea typeface="Cambria"/>
                <a:cs typeface="Cambria"/>
                <a:sym typeface="Cambria"/>
              </a:rPr>
              <a:t>Prétraitement des données — modélisation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11064240" y="4114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B7E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5B7EB"/>
                </a:solidFill>
                <a:latin typeface="Calibri"/>
                <a:ea typeface="Calibri"/>
                <a:cs typeface="Calibri"/>
                <a:sym typeface="Calibri"/>
              </a:rPr>
              <a:t>DWFA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685800" y="1554480"/>
            <a:ext cx="457200" cy="457200"/>
          </a:xfrm>
          <a:prstGeom prst="roundRect">
            <a:avLst>
              <a:gd fmla="val 12000" name="adj"/>
            </a:avLst>
          </a:prstGeom>
          <a:solidFill>
            <a:srgbClr val="2F5C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685800" y="15544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1371600" y="1508760"/>
            <a:ext cx="9966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B3F"/>
                </a:solidFill>
                <a:latin typeface="Calibri"/>
                <a:ea typeface="Calibri"/>
                <a:cs typeface="Calibri"/>
                <a:sym typeface="Calibri"/>
              </a:rPr>
              <a:t>Table de référence Continent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1371600" y="187452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Jointure de RegionCountry dans DimCountry (pays → continent)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685800" y="2606040"/>
            <a:ext cx="457200" cy="457200"/>
          </a:xfrm>
          <a:prstGeom prst="roundRect">
            <a:avLst>
              <a:gd fmla="val 12000" name="adj"/>
            </a:avLst>
          </a:prstGeom>
          <a:solidFill>
            <a:srgbClr val="2F5C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685800" y="2606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1371600" y="2560320"/>
            <a:ext cx="9966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B3F"/>
                </a:solidFill>
                <a:latin typeface="Calibri"/>
                <a:ea typeface="Calibri"/>
                <a:cs typeface="Calibri"/>
                <a:sym typeface="Calibri"/>
              </a:rPr>
              <a:t>Table calendrier Année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1371600" y="292608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Créée manuellement (2000-2018), non présente dans les fichiers sources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685800" y="3657600"/>
            <a:ext cx="457200" cy="457200"/>
          </a:xfrm>
          <a:prstGeom prst="roundRect">
            <a:avLst>
              <a:gd fmla="val 12000" name="adj"/>
            </a:avLst>
          </a:prstGeom>
          <a:solidFill>
            <a:srgbClr val="2F5C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685800" y="3657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1371600" y="3611880"/>
            <a:ext cx="9966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B3F"/>
                </a:solidFill>
                <a:latin typeface="Calibri"/>
                <a:ea typeface="Calibri"/>
                <a:cs typeface="Calibri"/>
                <a:sym typeface="Calibri"/>
              </a:rPr>
              <a:t>8 relations en étoile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1371600" y="397764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Country et Year, pour chacune des 4 tables de faits vers les 2 dimensions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685800" y="4709160"/>
            <a:ext cx="457200" cy="457200"/>
          </a:xfrm>
          <a:prstGeom prst="roundRect">
            <a:avLst>
              <a:gd fmla="val 12000" name="adj"/>
            </a:avLst>
          </a:prstGeom>
          <a:solidFill>
            <a:srgbClr val="2F5C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685800" y="4709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1371600" y="4663440"/>
            <a:ext cx="9966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B3F"/>
                </a:solidFill>
                <a:latin typeface="Calibri"/>
                <a:ea typeface="Calibri"/>
                <a:cs typeface="Calibri"/>
                <a:sym typeface="Calibri"/>
              </a:rPr>
              <a:t>Un modèle optimisé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1371600" y="502920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Aucune relation directe entre tables de faits — vitesse d'affichage préservée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1175004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8AD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78ADD"/>
                </a:solidFill>
                <a:latin typeface="Calibri"/>
                <a:ea typeface="Calibri"/>
                <a:cs typeface="Calibri"/>
                <a:sym typeface="Calibri"/>
              </a:rPr>
              <a:t>MODÉLISATION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D1B3F"/>
                </a:solidFill>
                <a:latin typeface="Cambria"/>
                <a:ea typeface="Cambria"/>
                <a:cs typeface="Cambria"/>
                <a:sym typeface="Cambria"/>
              </a:rPr>
              <a:t>Le modèle en étoile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11064240" y="4114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B7E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5B7EB"/>
                </a:solidFill>
                <a:latin typeface="Calibri"/>
                <a:ea typeface="Calibri"/>
                <a:cs typeface="Calibri"/>
                <a:sym typeface="Calibri"/>
              </a:rPr>
              <a:t>DWFA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10/schema_modele.png" id="174" name="Google Shape;17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2536" y="1463040"/>
            <a:ext cx="8183880" cy="507400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7"/>
          <p:cNvSpPr/>
          <p:nvPr/>
        </p:nvSpPr>
        <p:spPr>
          <a:xfrm>
            <a:off x="1175004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8AD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78ADD"/>
                </a:solidFill>
                <a:latin typeface="Calibri"/>
                <a:ea typeface="Calibri"/>
                <a:cs typeface="Calibri"/>
                <a:sym typeface="Calibri"/>
              </a:rPr>
              <a:t>MESURES DAX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D1B3F"/>
                </a:solidFill>
                <a:latin typeface="Cambria"/>
                <a:ea typeface="Cambria"/>
                <a:cs typeface="Cambria"/>
                <a:sym typeface="Cambria"/>
              </a:rPr>
              <a:t>Des indicateurs calculés pour chaque domaine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11064240" y="4114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B7E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5B7EB"/>
                </a:solidFill>
                <a:latin typeface="Calibri"/>
                <a:ea typeface="Calibri"/>
                <a:cs typeface="Calibri"/>
                <a:sym typeface="Calibri"/>
              </a:rPr>
              <a:t>DWFA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548640" y="1600200"/>
            <a:ext cx="3474720" cy="2926080"/>
          </a:xfrm>
          <a:prstGeom prst="roundRect">
            <a:avLst>
              <a:gd fmla="val 2500" name="adj"/>
            </a:avLst>
          </a:prstGeom>
          <a:solidFill>
            <a:srgbClr val="F5F8FC"/>
          </a:solidFill>
          <a:ln cap="flat" cmpd="sng" w="12700">
            <a:solidFill>
              <a:srgbClr val="DCE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1920240" y="1874520"/>
            <a:ext cx="731520" cy="731520"/>
          </a:xfrm>
          <a:prstGeom prst="ellipse">
            <a:avLst/>
          </a:prstGeom>
          <a:solidFill>
            <a:srgbClr val="0D1B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10/icon_calculator.png" id="186" name="Google Shape;18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5338" y="1969618"/>
            <a:ext cx="541325" cy="54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8"/>
          <p:cNvSpPr/>
          <p:nvPr/>
        </p:nvSpPr>
        <p:spPr>
          <a:xfrm>
            <a:off x="777240" y="278892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D1B3F"/>
                </a:solidFill>
                <a:latin typeface="Calibri"/>
                <a:ea typeface="Calibri"/>
                <a:cs typeface="Calibri"/>
                <a:sym typeface="Calibri"/>
              </a:rPr>
              <a:t>Population (réelle)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777240" y="3337560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Valeur brute × 1 000, restreinte à la dernière année disponible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4297680" y="1600200"/>
            <a:ext cx="3474720" cy="2926080"/>
          </a:xfrm>
          <a:prstGeom prst="roundRect">
            <a:avLst>
              <a:gd fmla="val 2500" name="adj"/>
            </a:avLst>
          </a:prstGeom>
          <a:solidFill>
            <a:srgbClr val="F5F8FC"/>
          </a:solidFill>
          <a:ln cap="flat" cmpd="sng" w="12700">
            <a:solidFill>
              <a:srgbClr val="DCE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5669280" y="1874520"/>
            <a:ext cx="731520" cy="731520"/>
          </a:xfrm>
          <a:prstGeom prst="ellipse">
            <a:avLst/>
          </a:prstGeom>
          <a:solidFill>
            <a:srgbClr val="0D1B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10/icon_target.png" id="191" name="Google Shape;19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4378" y="1969618"/>
            <a:ext cx="541325" cy="54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8"/>
          <p:cNvSpPr/>
          <p:nvPr/>
        </p:nvSpPr>
        <p:spPr>
          <a:xfrm>
            <a:off x="4526280" y="278892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D1B3F"/>
                </a:solidFill>
                <a:latin typeface="Calibri"/>
                <a:ea typeface="Calibri"/>
                <a:cs typeface="Calibri"/>
                <a:sym typeface="Calibri"/>
              </a:rPr>
              <a:t>Indice d'efficacité politique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526280" y="3337560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Combine taux d'accès à l'eau et taux de mortalité (normalisés)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8046720" y="1600200"/>
            <a:ext cx="3474720" cy="2926080"/>
          </a:xfrm>
          <a:prstGeom prst="roundRect">
            <a:avLst>
              <a:gd fmla="val 2500" name="adj"/>
            </a:avLst>
          </a:prstGeom>
          <a:solidFill>
            <a:srgbClr val="F5F8FC"/>
          </a:solidFill>
          <a:ln cap="flat" cmpd="sng" w="12700">
            <a:solidFill>
              <a:srgbClr val="DCE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9418320" y="1874520"/>
            <a:ext cx="731520" cy="731520"/>
          </a:xfrm>
          <a:prstGeom prst="ellipse">
            <a:avLst/>
          </a:prstGeom>
          <a:solidFill>
            <a:srgbClr val="0D1B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10/icon_chart.png" id="196" name="Google Shape;19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13418" y="1969618"/>
            <a:ext cx="541325" cy="54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8"/>
          <p:cNvSpPr/>
          <p:nvPr/>
        </p:nvSpPr>
        <p:spPr>
          <a:xfrm>
            <a:off x="8275320" y="278892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D1B3F"/>
                </a:solidFill>
                <a:latin typeface="Calibri"/>
                <a:ea typeface="Calibri"/>
                <a:cs typeface="Calibri"/>
                <a:sym typeface="Calibri"/>
              </a:rPr>
              <a:t>Score de priorisation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8275320" y="3337560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Écart d'accès à l'eau × population — identifie les pays à fort impact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548640" y="489204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Ces mesures s'appuient sur des agrégations (moyennes, sommes) et une jointure entre fichiers — répondant directement aux exigences techniques du projet.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1175004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8AD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78ADD"/>
                </a:solidFill>
                <a:latin typeface="Calibri"/>
                <a:ea typeface="Calibri"/>
                <a:cs typeface="Calibri"/>
                <a:sym typeface="Calibri"/>
              </a:rPr>
              <a:t>CONCEPTION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D1B3F"/>
                </a:solidFill>
                <a:latin typeface="Cambria"/>
                <a:ea typeface="Cambria"/>
                <a:cs typeface="Cambria"/>
                <a:sym typeface="Cambria"/>
              </a:rPr>
              <a:t>Le blueprint — penser l'outil avant de le construire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11064240" y="4114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B7E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5B7EB"/>
                </a:solidFill>
                <a:latin typeface="Calibri"/>
                <a:ea typeface="Calibri"/>
                <a:cs typeface="Calibri"/>
                <a:sym typeface="Calibri"/>
              </a:rPr>
              <a:t>DWFA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10/apercu_vue_mondiale.png" id="209" name="Google Shape;20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3611880" cy="2111561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9"/>
          <p:cNvSpPr/>
          <p:nvPr/>
        </p:nvSpPr>
        <p:spPr>
          <a:xfrm>
            <a:off x="548640" y="3757481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F"/>
                </a:solidFill>
                <a:latin typeface="Calibri"/>
                <a:ea typeface="Calibri"/>
                <a:cs typeface="Calibri"/>
                <a:sym typeface="Calibri"/>
              </a:rPr>
              <a:t>Vue Mondiale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10/apercu_vue_continentale.png" id="211" name="Google Shape;21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3400" y="1554480"/>
            <a:ext cx="3611880" cy="2111561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9"/>
          <p:cNvSpPr/>
          <p:nvPr/>
        </p:nvSpPr>
        <p:spPr>
          <a:xfrm>
            <a:off x="4343400" y="3757481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F"/>
                </a:solidFill>
                <a:latin typeface="Calibri"/>
                <a:ea typeface="Calibri"/>
                <a:cs typeface="Calibri"/>
                <a:sym typeface="Calibri"/>
              </a:rPr>
              <a:t>Vue Continentale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10/apercu_vue_nationale.png" id="213" name="Google Shape;21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160" y="1554480"/>
            <a:ext cx="3611880" cy="211156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9"/>
          <p:cNvSpPr/>
          <p:nvPr/>
        </p:nvSpPr>
        <p:spPr>
          <a:xfrm>
            <a:off x="8138160" y="3757481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F"/>
                </a:solidFill>
                <a:latin typeface="Calibri"/>
                <a:ea typeface="Calibri"/>
                <a:cs typeface="Calibri"/>
                <a:sym typeface="Calibri"/>
              </a:rPr>
              <a:t>Vue Nationale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Les 3 vues reprennent les mêmes indicateurs à 3 niveaux d'agrégation : mondial, continental, national.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1175004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8AD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78ADD"/>
                </a:solidFill>
                <a:latin typeface="Calibri"/>
                <a:ea typeface="Calibri"/>
                <a:cs typeface="Calibri"/>
                <a:sym typeface="Calibri"/>
              </a:rPr>
              <a:t>CHOIX DE L'OUTIL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D1B3F"/>
                </a:solidFill>
                <a:latin typeface="Cambria"/>
                <a:ea typeface="Cambria"/>
                <a:cs typeface="Cambria"/>
                <a:sym typeface="Cambria"/>
              </a:rPr>
              <a:t>Pourquoi Power BI plutôt que Tableau 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11064240" y="4114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B7E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5B7EB"/>
                </a:solidFill>
                <a:latin typeface="Calibri"/>
                <a:ea typeface="Calibri"/>
                <a:cs typeface="Calibri"/>
                <a:sym typeface="Calibri"/>
              </a:rPr>
              <a:t>DWFA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548640" y="1554480"/>
            <a:ext cx="5349240" cy="2194560"/>
          </a:xfrm>
          <a:prstGeom prst="roundRect">
            <a:avLst>
              <a:gd fmla="val 3333" name="adj"/>
            </a:avLst>
          </a:prstGeom>
          <a:solidFill>
            <a:srgbClr val="F5F8FC"/>
          </a:solidFill>
          <a:ln cap="flat" cmpd="sng" w="12700">
            <a:solidFill>
              <a:srgbClr val="DCE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822960" y="1828800"/>
            <a:ext cx="594360" cy="59436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10/icon_check.png" id="227" name="Google Shape;22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227" y="1906067"/>
            <a:ext cx="439826" cy="439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0"/>
          <p:cNvSpPr/>
          <p:nvPr/>
        </p:nvSpPr>
        <p:spPr>
          <a:xfrm>
            <a:off x="1600200" y="1810512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3F"/>
                </a:solidFill>
                <a:latin typeface="Calibri"/>
                <a:ea typeface="Calibri"/>
                <a:cs typeface="Calibri"/>
                <a:sym typeface="Calibri"/>
              </a:rPr>
              <a:t>Un modèle relationnel natif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822960" y="2606040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5 fichiers à croiser via un modèle en étoile et du DAX — le point fort de Power BI face à des données multi-tables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6172200" y="1554480"/>
            <a:ext cx="5349240" cy="2194560"/>
          </a:xfrm>
          <a:prstGeom prst="roundRect">
            <a:avLst>
              <a:gd fmla="val 3333" name="adj"/>
            </a:avLst>
          </a:prstGeom>
          <a:solidFill>
            <a:srgbClr val="F5F8FC"/>
          </a:solidFill>
          <a:ln cap="flat" cmpd="sng" w="12700">
            <a:solidFill>
              <a:srgbClr val="DCE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6446520" y="1828800"/>
            <a:ext cx="594360" cy="59436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10/icon_check.png" id="232" name="Google Shape;23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3787" y="1906067"/>
            <a:ext cx="439826" cy="43982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0"/>
          <p:cNvSpPr/>
          <p:nvPr/>
        </p:nvSpPr>
        <p:spPr>
          <a:xfrm>
            <a:off x="7223760" y="1810512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3F"/>
                </a:solidFill>
                <a:latin typeface="Calibri"/>
                <a:ea typeface="Calibri"/>
                <a:cs typeface="Calibri"/>
                <a:sym typeface="Calibri"/>
              </a:rPr>
              <a:t>Un écosystème déjà en place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6446520" y="2606040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Intégration naturelle avec les outils Microsoft déjà utilisés en interne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548640" y="3977640"/>
            <a:ext cx="5349240" cy="2194560"/>
          </a:xfrm>
          <a:prstGeom prst="roundRect">
            <a:avLst>
              <a:gd fmla="val 3333" name="adj"/>
            </a:avLst>
          </a:prstGeom>
          <a:solidFill>
            <a:srgbClr val="F5F8FC"/>
          </a:solidFill>
          <a:ln cap="flat" cmpd="sng" w="12700">
            <a:solidFill>
              <a:srgbClr val="DCE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822960" y="4251960"/>
            <a:ext cx="594360" cy="59436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10/icon_check.png" id="237" name="Google Shape;23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227" y="4329227"/>
            <a:ext cx="439826" cy="439826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0"/>
          <p:cNvSpPr/>
          <p:nvPr/>
        </p:nvSpPr>
        <p:spPr>
          <a:xfrm>
            <a:off x="1600200" y="4233672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3F"/>
                </a:solidFill>
                <a:latin typeface="Calibri"/>
                <a:ea typeface="Calibri"/>
                <a:cs typeface="Calibri"/>
                <a:sym typeface="Calibri"/>
              </a:rPr>
              <a:t>Des compétences déjà maîtrisées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822960" y="5029200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Power Query, DAX et modélisation en étoile — une base solide pour livrer rapidement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6172200" y="3977640"/>
            <a:ext cx="5349240" cy="2194560"/>
          </a:xfrm>
          <a:prstGeom prst="roundRect">
            <a:avLst>
              <a:gd fmla="val 3333" name="adj"/>
            </a:avLst>
          </a:prstGeom>
          <a:solidFill>
            <a:srgbClr val="F5F8FC"/>
          </a:solidFill>
          <a:ln cap="flat" cmpd="sng" w="12700">
            <a:solidFill>
              <a:srgbClr val="DCE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6446520" y="4251960"/>
            <a:ext cx="594360" cy="59436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10/icon_check.png" id="242" name="Google Shape;24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3787" y="4329227"/>
            <a:ext cx="439826" cy="43982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0"/>
          <p:cNvSpPr/>
          <p:nvPr/>
        </p:nvSpPr>
        <p:spPr>
          <a:xfrm>
            <a:off x="7223760" y="4233672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3F"/>
                </a:solidFill>
                <a:latin typeface="Calibri"/>
                <a:ea typeface="Calibri"/>
                <a:cs typeface="Calibri"/>
                <a:sym typeface="Calibri"/>
              </a:rPr>
              <a:t>Un partage simplifié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6446520" y="5029200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Publication et diffusion du rapport facilitées pour les équipes DWFA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1175004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8AD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78ADD"/>
                </a:solidFill>
                <a:latin typeface="Calibri"/>
                <a:ea typeface="Calibri"/>
                <a:cs typeface="Calibri"/>
                <a:sym typeface="Calibri"/>
              </a:rPr>
              <a:t>RÉSULTATS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D1B3F"/>
                </a:solidFill>
                <a:latin typeface="Cambria"/>
                <a:ea typeface="Cambria"/>
                <a:cs typeface="Cambria"/>
                <a:sym typeface="Cambria"/>
              </a:rPr>
              <a:t>Vue Mondiale — vision globale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11064240" y="4114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B7E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5B7EB"/>
                </a:solidFill>
                <a:latin typeface="Calibri"/>
                <a:ea typeface="Calibri"/>
                <a:cs typeface="Calibri"/>
                <a:sym typeface="Calibri"/>
              </a:rPr>
              <a:t>DWFA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548640" y="1489265"/>
            <a:ext cx="6949500" cy="4572000"/>
          </a:xfrm>
          <a:prstGeom prst="roundRect">
            <a:avLst>
              <a:gd fmla="val 1600" name="adj"/>
            </a:avLst>
          </a:prstGeom>
          <a:solidFill>
            <a:srgbClr val="F5F8FC"/>
          </a:solidFill>
          <a:ln cap="flat" cmpd="sng" w="19050">
            <a:solidFill>
              <a:srgbClr val="378A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7726680" y="205740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Taux d'accès mondial et mortalité WASH en un coup d'œil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7726680" y="292608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Carte : repérer visuellement les zones les plus en difficulté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7726680" y="379476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Scatter : lien entre accès à l'eau, mortalité et stabilité par continent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1175004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1554475"/>
            <a:ext cx="6949500" cy="4506800"/>
          </a:xfrm>
          <a:prstGeom prst="rect">
            <a:avLst/>
          </a:prstGeom>
          <a:solidFill>
            <a:srgbClr val="F5F8FC"/>
          </a:solidFill>
          <a:ln cap="flat" cmpd="sng" w="19050">
            <a:solidFill>
              <a:srgbClr val="378ADD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8AD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78ADD"/>
                </a:solidFill>
                <a:latin typeface="Calibri"/>
                <a:ea typeface="Calibri"/>
                <a:cs typeface="Calibri"/>
                <a:sym typeface="Calibri"/>
              </a:rPr>
              <a:t>RÉSULTATS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D1B3F"/>
                </a:solidFill>
                <a:latin typeface="Cambria"/>
                <a:ea typeface="Cambria"/>
                <a:cs typeface="Cambria"/>
                <a:sym typeface="Cambria"/>
              </a:rPr>
              <a:t>Vue Continentale — comparer et prioriser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11064240" y="4114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B7E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5B7EB"/>
                </a:solidFill>
                <a:latin typeface="Calibri"/>
                <a:ea typeface="Calibri"/>
                <a:cs typeface="Calibri"/>
                <a:sym typeface="Calibri"/>
              </a:rPr>
              <a:t>DWFA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548640" y="1463040"/>
            <a:ext cx="6949440" cy="4572000"/>
          </a:xfrm>
          <a:prstGeom prst="roundRect">
            <a:avLst>
              <a:gd fmla="val 1600" name="adj"/>
            </a:avLst>
          </a:prstGeom>
          <a:solidFill>
            <a:srgbClr val="F5F8FC"/>
          </a:solidFill>
          <a:ln cap="flat" cmpd="sng" w="19050">
            <a:solidFill>
              <a:srgbClr val="378A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2"/>
          <p:cNvSpPr/>
          <p:nvPr/>
        </p:nvSpPr>
        <p:spPr>
          <a:xfrm>
            <a:off x="7726680" y="205740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Comparaison pays par pays sur les 3 domaines d'expertise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7726680" y="292608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Le score de priorisation identifie les pays à cibler en premier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7726680" y="379476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Évolution temporelle de l'accès à l'eau sur le continent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1175004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1463050"/>
            <a:ext cx="6949425" cy="4572000"/>
          </a:xfrm>
          <a:prstGeom prst="rect">
            <a:avLst/>
          </a:prstGeom>
          <a:solidFill>
            <a:srgbClr val="F5F8FC"/>
          </a:solidFill>
          <a:ln cap="flat" cmpd="sng" w="19050">
            <a:solidFill>
              <a:srgbClr val="378ADD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8AD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78ADD"/>
                </a:solidFill>
                <a:latin typeface="Calibri"/>
                <a:ea typeface="Calibri"/>
                <a:cs typeface="Calibri"/>
                <a:sym typeface="Calibri"/>
              </a:rPr>
              <a:t>RÉSULTATS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D1B3F"/>
                </a:solidFill>
                <a:latin typeface="Cambria"/>
                <a:ea typeface="Cambria"/>
                <a:cs typeface="Cambria"/>
                <a:sym typeface="Cambria"/>
              </a:rPr>
              <a:t>Vue Nationale — analyse détaillée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11064240" y="4114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B7E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5B7EB"/>
                </a:solidFill>
                <a:latin typeface="Calibri"/>
                <a:ea typeface="Calibri"/>
                <a:cs typeface="Calibri"/>
                <a:sym typeface="Calibri"/>
              </a:rPr>
              <a:t>DWFA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548640" y="1463040"/>
            <a:ext cx="6949440" cy="4572000"/>
          </a:xfrm>
          <a:prstGeom prst="roundRect">
            <a:avLst>
              <a:gd fmla="val 1600" name="adj"/>
            </a:avLst>
          </a:prstGeom>
          <a:solidFill>
            <a:srgbClr val="F5F8FC"/>
          </a:solidFill>
          <a:ln cap="flat" cmpd="sng" w="19050">
            <a:solidFill>
              <a:srgbClr val="378A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3"/>
          <p:cNvSpPr/>
          <p:nvPr/>
        </p:nvSpPr>
        <p:spPr>
          <a:xfrm>
            <a:off x="7726680" y="205740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Zoom sur un pays identifié comme prioritaire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7726680" y="292608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Évolution de la stabilité politique et de la population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7726680" y="379476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Table récapitulative pour appuyer la recommandation finale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1175004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7" name="Google Shape;2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300" y="1463050"/>
            <a:ext cx="7222774" cy="4698501"/>
          </a:xfrm>
          <a:prstGeom prst="rect">
            <a:avLst/>
          </a:prstGeom>
          <a:solidFill>
            <a:srgbClr val="F5F8FC"/>
          </a:solidFill>
          <a:ln cap="flat" cmpd="sng" w="19050">
            <a:solidFill>
              <a:srgbClr val="378ADD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"/>
          <p:cNvSpPr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B7E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5B7EB"/>
                </a:solidFill>
                <a:latin typeface="Calibri"/>
                <a:ea typeface="Calibri"/>
                <a:cs typeface="Calibri"/>
                <a:sym typeface="Calibri"/>
              </a:rPr>
              <a:t>Accessibilité &amp; optimisation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822960" y="1417320"/>
            <a:ext cx="594360" cy="59436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10/icon_access.png" id="295" name="Google Shape;2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227" y="1494587"/>
            <a:ext cx="439826" cy="439826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4"/>
          <p:cNvSpPr/>
          <p:nvPr/>
        </p:nvSpPr>
        <p:spPr>
          <a:xfrm>
            <a:off x="1600200" y="139903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Palette de bleus contrastée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1600200" y="173736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2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C2E0"/>
                </a:solidFill>
                <a:latin typeface="Calibri"/>
                <a:ea typeface="Calibri"/>
                <a:cs typeface="Calibri"/>
                <a:sym typeface="Calibri"/>
              </a:rPr>
              <a:t>Contraste vérifié, aucune information codée uniquement par la couleur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822960" y="2423160"/>
            <a:ext cx="594360" cy="59436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10/icon_sitemap.png" id="299" name="Google Shape;2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227" y="2500427"/>
            <a:ext cx="439826" cy="439826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4"/>
          <p:cNvSpPr/>
          <p:nvPr/>
        </p:nvSpPr>
        <p:spPr>
          <a:xfrm>
            <a:off x="1600200" y="240487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Modèle en étoile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1600200" y="274320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2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C2E0"/>
                </a:solidFill>
                <a:latin typeface="Calibri"/>
                <a:ea typeface="Calibri"/>
                <a:cs typeface="Calibri"/>
                <a:sym typeface="Calibri"/>
              </a:rPr>
              <a:t>Optimisé pour la vitesse d'affichage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822960" y="3429000"/>
            <a:ext cx="594360" cy="59436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10/icon_chart.png" id="303" name="Google Shape;3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0227" y="3506267"/>
            <a:ext cx="439826" cy="439826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4"/>
          <p:cNvSpPr/>
          <p:nvPr/>
        </p:nvSpPr>
        <p:spPr>
          <a:xfrm>
            <a:off x="1600200" y="341071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Titres et complexité adaptés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1600200" y="37490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2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C2E0"/>
                </a:solidFill>
                <a:latin typeface="Calibri"/>
                <a:ea typeface="Calibri"/>
                <a:cs typeface="Calibri"/>
                <a:sym typeface="Calibri"/>
              </a:rPr>
              <a:t>Un vocabulaire compréhensible par un public non technique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6" name="Google Shape;306;p14"/>
          <p:cNvCxnSpPr/>
          <p:nvPr/>
        </p:nvCxnSpPr>
        <p:spPr>
          <a:xfrm>
            <a:off x="6766560" y="1371600"/>
            <a:ext cx="0" cy="3108960"/>
          </a:xfrm>
          <a:prstGeom prst="straightConnector1">
            <a:avLst/>
          </a:prstGeom>
          <a:noFill/>
          <a:ln cap="flat" cmpd="sng" w="12700">
            <a:solidFill>
              <a:srgbClr val="2A3B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" name="Google Shape;307;p14"/>
          <p:cNvSpPr/>
          <p:nvPr/>
        </p:nvSpPr>
        <p:spPr>
          <a:xfrm>
            <a:off x="7086600" y="1463040"/>
            <a:ext cx="44805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0" i="1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Objectif atteint : un outil pour identifier les pays en difficulté d'accès à l'eau potable, et prioriser les efforts de DWFA sur les 3 domaines d'expertise.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822960" y="539496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Merci ! 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2026-07-27T14:57:00Z</dcterms:created>
  <dc:creator>PptxGenJS</dc:creator>
</cp:coreProperties>
</file>