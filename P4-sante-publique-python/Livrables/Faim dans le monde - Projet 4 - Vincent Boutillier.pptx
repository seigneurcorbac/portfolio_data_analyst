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7ORsxm6NerczgOgKX9nF6z2on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7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233f607d4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2233f607d4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9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1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4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25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panoramique avec légende">
  <p:cSld name="Image panoramique avec légen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7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7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de nom">
  <p:cSld name="Carte de nom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8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0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rect b="b" l="l" r="r" t="t"/>
            <a:pathLst>
              <a:path extrusionOk="0" h="5556552" w="685800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Julien Laole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FAO</a:t>
            </a:r>
            <a:endParaRPr/>
          </a:p>
        </p:txBody>
      </p:sp>
      <p:sp>
        <p:nvSpPr>
          <p:cNvPr id="123" name="Google Shape;123;p1"/>
          <p:cNvSpPr txBox="1"/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descr="Tout savoir sur les bienfaits d'une alimentation bio pour bébé | Autour de  bébé | Conseils" id="124" name="Google Shape;1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6550" y="3497385"/>
            <a:ext cx="6553199" cy="336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0" name="Google Shape;130;p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Historique de données sur la faim dans le monde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Données complémentaire à l’analyse 2018 à nos jours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Données en traitement :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-FR"/>
              <a:t>Stock de nourriture par pays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-FR"/>
              <a:t>Stock de nourriture par type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-FR"/>
              <a:t>Stock de nourriture par utilisation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-FR"/>
              <a:t>Données allant de 2013 à 2017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136" name="Google Shape;136;p3"/>
          <p:cNvSpPr txBox="1"/>
          <p:nvPr>
            <p:ph idx="1" type="body"/>
          </p:nvPr>
        </p:nvSpPr>
        <p:spPr>
          <a:xfrm>
            <a:off x="486200" y="2473600"/>
            <a:ext cx="103752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3321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-FR" sz="1917"/>
              <a:t>Aucune donnée affectée par la réglementation RGPD (pas de données sensibles)</a:t>
            </a:r>
            <a:endParaRPr sz="191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1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17"/>
          </a:p>
          <a:p>
            <a:pPr indent="-32940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-FR" sz="1867"/>
              <a:t>Analyse faite sur les données disponibles dans les fichiers : </a:t>
            </a:r>
            <a:endParaRPr sz="1867"/>
          </a:p>
          <a:p>
            <a:pPr indent="-329406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-FR" sz="1867"/>
              <a:t>Disponibilité alimentaire (Données sur les stocks alimentaires par pays)</a:t>
            </a:r>
            <a:endParaRPr sz="1867"/>
          </a:p>
          <a:p>
            <a:pPr indent="-329406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-FR" sz="1867"/>
              <a:t>Insécurité alimentaire (Données sur le nombre d’habitants en sous-nutrition sur une période X)</a:t>
            </a:r>
            <a:endParaRPr sz="1867"/>
          </a:p>
          <a:p>
            <a:pPr indent="-329406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-FR" sz="1867"/>
              <a:t>Population (Donnée sur les pays : Population totale par année)</a:t>
            </a:r>
            <a:endParaRPr sz="1867"/>
          </a:p>
          <a:p>
            <a:pPr indent="-329406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-FR" sz="1867"/>
              <a:t>Aide Alimentaire (Données chiffrées sur les quantitées de ressources perçues par chaque pays en aide alimentaire)</a:t>
            </a:r>
            <a:endParaRPr sz="186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fr-FR"/>
              <a:t>Suivi de la trame de Julien puis nettoyage pour une meilleure lisibilité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12" y="2406212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Population mondiale en 2017 : </a:t>
            </a:r>
            <a:r>
              <a:rPr b="1" lang="fr-FR"/>
              <a:t>7 543 798 779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Population sous-alimentée en 2017 : </a:t>
            </a:r>
            <a:r>
              <a:rPr b="1" lang="fr-FR"/>
              <a:t>535 700 000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fr-FR"/>
              <a:t>Part de la population mondiale sous alimentée : 7,1%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fr-FR"/>
              <a:t>92,9% sont estimées êtres au dessus du seuil de sous-nutrition</a:t>
            </a:r>
            <a:endParaRPr b="1"/>
          </a:p>
        </p:txBody>
      </p:sp>
      <p:pic>
        <p:nvPicPr>
          <p:cNvPr id="143" name="Google Shape;14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300" y="2222276"/>
            <a:ext cx="4310400" cy="4368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109256" y="2384900"/>
            <a:ext cx="52827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Base </a:t>
            </a:r>
            <a:r>
              <a:rPr b="1" i="1" lang="fr-FR"/>
              <a:t>2200kcal</a:t>
            </a:r>
            <a:r>
              <a:rPr lang="fr-FR"/>
              <a:t>/personne/jour (Moyenne pour un adulte)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Population mondiale en 2017 vs Capacité théorique de nutrition (Monde &amp; toutes sources)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fr-FR"/>
              <a:t>Résultat : ~126% population mondiale pouvaient être nourries en 2017.</a:t>
            </a:r>
            <a:endParaRPr b="1"/>
          </a:p>
        </p:txBody>
      </p:sp>
      <p:pic>
        <p:nvPicPr>
          <p:cNvPr id="150" name="Google Shape;15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1950" y="2299187"/>
            <a:ext cx="6800050" cy="38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Même exercice que pour toutes les sources de nourritures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Résultat un peu différent, néanmoins, constat -</a:t>
            </a:r>
            <a:r>
              <a:rPr b="1" lang="fr-FR"/>
              <a:t>presque- équivalent 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104% population mondiale pouvait être nourrie avec seulement des produits végétaux en 2017.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104979" y="2410325"/>
            <a:ext cx="73344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5% de la disponibilité intérieure est perdue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14,5% est consacré à la nourriture animale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/>
              <a:t>Plus de la moitiée est disponible pour la nourriture destinée à la consommation de la population (54,2%, CF graphique)</a:t>
            </a:r>
            <a:endParaRPr/>
          </a:p>
        </p:txBody>
      </p:sp>
      <p:pic>
        <p:nvPicPr>
          <p:cNvPr id="163" name="Google Shape;16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9353" y="2410325"/>
            <a:ext cx="4752650" cy="41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Avec les sources de céréales donnés comme le Blé, l’Orge, Maïs etc..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La disponibilité intérieure totale </a:t>
            </a:r>
            <a:r>
              <a:rPr lang="fr-FR"/>
              <a:t>s'élève</a:t>
            </a:r>
            <a:r>
              <a:rPr lang="fr-FR"/>
              <a:t> à 2,39 Milliers de </a:t>
            </a:r>
            <a:r>
              <a:rPr lang="fr-FR"/>
              <a:t>milliards</a:t>
            </a:r>
            <a:r>
              <a:rPr lang="fr-FR"/>
              <a:t> de KG.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◆"/>
            </a:pPr>
            <a:r>
              <a:rPr lang="fr-FR"/>
              <a:t>Avec une proportion d’alimentation animale à 36,2%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◆"/>
            </a:pPr>
            <a:r>
              <a:rPr lang="fr-FR"/>
              <a:t>Et une proportion de nourriture destiné aux humains de 42,82%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210280" y="2452550"/>
            <a:ext cx="62583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Liste des 10 pays comprenant la plus grande proportion de personnes sous-alimentée entre 2016 et 2018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Evolution à faire avec l’étude 2018 de Julien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Haïti avec presque 50% de la population concernée </a:t>
            </a:r>
            <a:endParaRPr/>
          </a:p>
        </p:txBody>
      </p:sp>
      <p:pic>
        <p:nvPicPr>
          <p:cNvPr id="176" name="Google Shape;17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8600" y="2673225"/>
            <a:ext cx="5723401" cy="3195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sp>
        <p:nvSpPr>
          <p:cNvPr id="182" name="Google Shape;182;p10"/>
          <p:cNvSpPr txBox="1"/>
          <p:nvPr>
            <p:ph idx="1" type="body"/>
          </p:nvPr>
        </p:nvSpPr>
        <p:spPr>
          <a:xfrm>
            <a:off x="818708" y="2222275"/>
            <a:ext cx="36978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Même éxercice que pour les proportions de population en sous-nutrition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République Arabe Syrienne en première position avec 1,86 Milliard de kilos reçu d’aide alimentaire entre 2013 et 2017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fr-FR"/>
              <a:t>Evolution dans la prochaine slide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875" y="2010238"/>
            <a:ext cx="7545125" cy="44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33f607d43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sp>
        <p:nvSpPr>
          <p:cNvPr id="189" name="Google Shape;189;g2233f607d43_0_0"/>
          <p:cNvSpPr txBox="1"/>
          <p:nvPr>
            <p:ph idx="1" type="body"/>
          </p:nvPr>
        </p:nvSpPr>
        <p:spPr>
          <a:xfrm>
            <a:off x="-2" y="2495575"/>
            <a:ext cx="3993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Focus sur le top 5 ayant le plus bénéficié d’aide entre 2013 et 2016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Pas de donnée après 2015 pour 3 pays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Yemen et République Syrienne plus grands bénéficiaires.</a:t>
            </a:r>
            <a:endParaRPr/>
          </a:p>
        </p:txBody>
      </p:sp>
      <p:pic>
        <p:nvPicPr>
          <p:cNvPr id="190" name="Google Shape;190;g2233f607d4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700" y="2106100"/>
            <a:ext cx="8198299" cy="44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210600" y="447200"/>
            <a:ext cx="11759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&amp; faible disponibilité alimentaire par habitant</a:t>
            </a:r>
            <a:endParaRPr sz="3200"/>
          </a:p>
        </p:txBody>
      </p:sp>
      <p:sp>
        <p:nvSpPr>
          <p:cNvPr id="196" name="Google Shape;196;p11"/>
          <p:cNvSpPr txBox="1"/>
          <p:nvPr>
            <p:ph idx="1" type="body"/>
          </p:nvPr>
        </p:nvSpPr>
        <p:spPr>
          <a:xfrm>
            <a:off x="818700" y="5808000"/>
            <a:ext cx="10554600" cy="1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Seuil à 2200kcal/jour/personne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Comparatif entre TOP 10 (moins et plus de disponibilité) par pays.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10 pays dans le top sont grandement au delà du seuil de 2200kcal/jour/personne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10 pays dans le top sont en deça du seuil de 2200kcal/personne/jour</a:t>
            </a:r>
            <a:endParaRPr/>
          </a:p>
        </p:txBody>
      </p:sp>
      <p:pic>
        <p:nvPicPr>
          <p:cNvPr id="197" name="Google Shape;1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250" y="1907201"/>
            <a:ext cx="9783499" cy="379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03" name="Google Shape;203;p13"/>
          <p:cNvSpPr txBox="1"/>
          <p:nvPr>
            <p:ph idx="1" type="body"/>
          </p:nvPr>
        </p:nvSpPr>
        <p:spPr>
          <a:xfrm>
            <a:off x="5218455" y="2222275"/>
            <a:ext cx="61548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Focus sur le Manioc en Thaïlande :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◆"/>
            </a:pPr>
            <a:r>
              <a:rPr lang="fr-FR"/>
              <a:t>83,4% de la production de Manioc en Thaïlande est exporté (30,23 Milliard de kg)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◆"/>
            </a:pPr>
            <a:r>
              <a:rPr lang="fr-FR"/>
              <a:t>Seulement 2,9% est utilisé comme nourriture dans le pays.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Une allocation de ressources comme le manioc devrait être majeurement utilisé dans le pays plus que pour l’exportation (au regard de la sous-nutrition)</a:t>
            </a:r>
            <a:endParaRPr/>
          </a:p>
        </p:txBody>
      </p:sp>
      <p:pic>
        <p:nvPicPr>
          <p:cNvPr id="204" name="Google Shape;20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35" y="2058450"/>
            <a:ext cx="4711737" cy="46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11) Analyses complémentaires</a:t>
            </a:r>
            <a:endParaRPr sz="3200"/>
          </a:p>
        </p:txBody>
      </p:sp>
      <p:pic>
        <p:nvPicPr>
          <p:cNvPr id="210" name="Google Shape;2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700" y="2222273"/>
            <a:ext cx="10144400" cy="41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16" name="Google Shape;216;p15"/>
          <p:cNvSpPr txBox="1"/>
          <p:nvPr>
            <p:ph idx="1" type="body"/>
          </p:nvPr>
        </p:nvSpPr>
        <p:spPr>
          <a:xfrm>
            <a:off x="818705" y="2222275"/>
            <a:ext cx="57687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La production alimentaire mondiale est suffisante (théoriquement)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Nous pouvons nourrir l’ensemble de la planète avec seulement des végetaux (104%)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fr-FR"/>
              <a:t>Problème majeur avancé avec cette étude : </a:t>
            </a:r>
            <a:endParaRPr/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◆"/>
            </a:pPr>
            <a:r>
              <a:rPr b="1" lang="fr-FR" sz="1700"/>
              <a:t>La répartition (Comme en Thaïlande) liée aux pertes et à l’utilisation des céréales pour l’élevage et/ou l’exportation, ainsi qu’aux inégalités entre pays.</a:t>
            </a:r>
            <a:endParaRPr b="1" sz="1700"/>
          </a:p>
        </p:txBody>
      </p:sp>
      <p:pic>
        <p:nvPicPr>
          <p:cNvPr id="217" name="Google Shape;2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125" y="2326063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2023-03-17T20:58:30Z</dcterms:created>
  <dc:creator>JeY jEy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