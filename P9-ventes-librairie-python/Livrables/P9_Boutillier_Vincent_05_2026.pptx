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jKmcssZVszeg333Yz8AGqXYDhQ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E856BE6-2374-4B2F-AE03-964E2EBCFF20}">
  <a:tblStyle styleId="{7E856BE6-2374-4B2F-AE03-964E2EBCFF2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customschemas.google.com/relationships/presentationmetadata" Target="meta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4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4008" y="0"/>
            <a:ext cx="9144000" cy="640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548640" y="82296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Analyse des Ventes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48640" y="17373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3400"/>
              <a:buFont typeface="Calibri"/>
              <a:buNone/>
            </a:pPr>
            <a:r>
              <a:rPr b="0" i="0" lang="en-US" sz="34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d'une Librairie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1"/>
          <p:cNvCxnSpPr/>
          <p:nvPr/>
        </p:nvCxnSpPr>
        <p:spPr>
          <a:xfrm>
            <a:off x="548640" y="2606040"/>
            <a:ext cx="4572000" cy="0"/>
          </a:xfrm>
          <a:prstGeom prst="straightConnector1">
            <a:avLst/>
          </a:prstGeom>
          <a:noFill/>
          <a:ln cap="flat" cmpd="sng" w="190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1"/>
          <p:cNvSpPr/>
          <p:nvPr/>
        </p:nvSpPr>
        <p:spPr>
          <a:xfrm>
            <a:off x="548640" y="27889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Projet 9 – Python  |  Séries temporelles &amp; Tests statistiques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48640" y="3429000"/>
            <a:ext cx="1920240" cy="1234440"/>
          </a:xfrm>
          <a:prstGeom prst="rect">
            <a:avLst/>
          </a:prstGeom>
          <a:solidFill>
            <a:srgbClr val="243563"/>
          </a:solidFill>
          <a:ln cap="flat" cmpd="sng" w="12700">
            <a:solidFill>
              <a:srgbClr val="243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594360" y="3493008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12,0M €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94360" y="408736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CA Total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2697480" y="3429000"/>
            <a:ext cx="1920240" cy="1234440"/>
          </a:xfrm>
          <a:prstGeom prst="rect">
            <a:avLst/>
          </a:prstGeom>
          <a:solidFill>
            <a:srgbClr val="243563"/>
          </a:solidFill>
          <a:ln cap="flat" cmpd="sng" w="12700">
            <a:solidFill>
              <a:srgbClr val="243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2743200" y="3493008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687 534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2743200" y="408736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Transactions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4846320" y="3429000"/>
            <a:ext cx="1920240" cy="1234440"/>
          </a:xfrm>
          <a:prstGeom prst="rect">
            <a:avLst/>
          </a:prstGeom>
          <a:solidFill>
            <a:srgbClr val="243563"/>
          </a:solidFill>
          <a:ln cap="flat" cmpd="sng" w="12700">
            <a:solidFill>
              <a:srgbClr val="243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4892040" y="3493008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8 600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4892040" y="408736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Clients actifs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6995160" y="3429000"/>
            <a:ext cx="1920240" cy="1234440"/>
          </a:xfrm>
          <a:prstGeom prst="rect">
            <a:avLst/>
          </a:prstGeom>
          <a:solidFill>
            <a:srgbClr val="243563"/>
          </a:solidFill>
          <a:ln cap="flat" cmpd="sng" w="12700">
            <a:solidFill>
              <a:srgbClr val="243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7040880" y="3493008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3 286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7040880" y="408736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Références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548640" y="48006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Mars 2021 – Février 2023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Plan de la présentation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57200" y="1051560"/>
            <a:ext cx="502920" cy="54864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457200" y="109728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097280" y="106984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Données &amp; Exploration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097280" y="1325880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Structure des fichiers, nettoyage, jointures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57200" y="1828800"/>
            <a:ext cx="502920" cy="54864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457200" y="187452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097280" y="184708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Analyse du Chiffre d'Affaires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097280" y="2103120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Séries temporelles, moyennes mobiles, CA par catégorie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57200" y="2606040"/>
            <a:ext cx="502920" cy="54864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457200" y="265176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097280" y="262432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Profil des Clients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1097280" y="2880360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Lorenz, BtoB, répartition par genre et âge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57200" y="3383280"/>
            <a:ext cx="502920" cy="54864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457200" y="342900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1097280" y="340156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Tests Statistiques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1097280" y="3657600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Khi², Spearman, Kruskal-Wallis – âge &amp; comportement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57200" y="4160520"/>
            <a:ext cx="502920" cy="54864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457200" y="420624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1097280" y="417880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1097280" y="4434840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Synthèse des résultats et recommandations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44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243563"/>
          </a:solidFill>
          <a:ln cap="flat" cmpd="sng" w="12700">
            <a:solidFill>
              <a:srgbClr val="243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457200" y="109728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57200" y="21488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Données &amp; Exploration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 fichiers sources – 687 534 transactions – 8 621 clients – 3 286 produits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Vue d'ensemble des données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" name="Google Shape;76;p4"/>
          <p:cNvCxnSpPr/>
          <p:nvPr/>
        </p:nvCxnSpPr>
        <p:spPr>
          <a:xfrm>
            <a:off x="457200" y="749808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4"/>
          <p:cNvSpPr/>
          <p:nvPr/>
        </p:nvSpPr>
        <p:spPr>
          <a:xfrm>
            <a:off x="274320" y="914400"/>
            <a:ext cx="2788920" cy="38404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320040" y="932688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products.csv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274320" y="1344168"/>
            <a:ext cx="27889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347472" y="1417320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Lignes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1554480" y="1417320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3 286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274320" y="1828800"/>
            <a:ext cx="2788920" cy="457200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347472" y="1901952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Colonnes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1554480" y="1901952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 (id_prod, price, categ)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274320" y="2313432"/>
            <a:ext cx="27889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347472" y="2386584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Prix moyen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1554480" y="2386584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21.86 €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274320" y="2798064"/>
            <a:ext cx="2788920" cy="457200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347472" y="2871216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Outliers prix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1554480" y="2871216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302 (&gt;46.99€)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274320" y="3282696"/>
            <a:ext cx="27889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347472" y="3355848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Catég. 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1554480" y="3355848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2 308 réf.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274320" y="3767328"/>
            <a:ext cx="2788920" cy="457200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347472" y="3840480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Catég.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1554480" y="3840480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739 réf.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274320" y="4251960"/>
            <a:ext cx="27889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347472" y="4325112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Catég.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1554480" y="4325112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239 réf.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3227832" y="914400"/>
            <a:ext cx="2788920" cy="384048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3273552" y="932688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customers.csv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3227832" y="1344168"/>
            <a:ext cx="27889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3300984" y="1417320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Clients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507992" y="1417320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8 621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3227832" y="1828800"/>
            <a:ext cx="2788920" cy="457200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3300984" y="1901952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Colonnes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507992" y="1901952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 (id, sex, birth)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3227832" y="2313432"/>
            <a:ext cx="27889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3300984" y="2386584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Femmes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507992" y="2386584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52.08% (4 490)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3227832" y="2798064"/>
            <a:ext cx="2788920" cy="457200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3300984" y="2871216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Hommes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4507992" y="2871216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47.92% (4 131)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3227832" y="3282696"/>
            <a:ext cx="27889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3300984" y="3355848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Âge moyen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4507992" y="3355848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44.7 ans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3227832" y="3767328"/>
            <a:ext cx="2788920" cy="457200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3300984" y="3840480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Âge min/max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4507992" y="3840480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19 / 94 ans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3227832" y="4251960"/>
            <a:ext cx="27889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3300984" y="4325112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Inactifs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4507992" y="4325112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21 clients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6181344" y="914400"/>
            <a:ext cx="2788920" cy="384048"/>
          </a:xfrm>
          <a:prstGeom prst="rect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6227064" y="932688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transactions.csv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6181344" y="1344168"/>
            <a:ext cx="27889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6254496" y="1417320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Lignes brutes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7461504" y="1417320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1 048 575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6181344" y="1828800"/>
            <a:ext cx="2788920" cy="457200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6254496" y="1901952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Après nettoyage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7461504" y="1901952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687 534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6181344" y="2313432"/>
            <a:ext cx="27889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6254496" y="2386584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Produits uniques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7461504" y="2386584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3 265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6181344" y="2798064"/>
            <a:ext cx="2788920" cy="457200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6254496" y="2871216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Clients uniques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7461504" y="2871216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8 600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6181344" y="3282696"/>
            <a:ext cx="27889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6254496" y="3355848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Sessions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7461504" y="3355848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345 505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6181344" y="3767328"/>
            <a:ext cx="2788920" cy="457200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6254496" y="3840480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Période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7461504" y="3840480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Mars 2021 → Fév 2023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6181344" y="4251960"/>
            <a:ext cx="27889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6254496" y="4325112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Produits jamais vendus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7461504" y="4325112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44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243563"/>
          </a:solidFill>
          <a:ln cap="flat" cmpd="sng" w="12700">
            <a:solidFill>
              <a:srgbClr val="243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457200" y="109728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457200" y="21488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Analyse du Chiffre d'Affaires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Évolution mensuelle, séries temporelles et répartition par catégorie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Évolution mensuelle du CA avec moyenne mobile (3 mois)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1" name="Google Shape;16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777240"/>
            <a:ext cx="8595360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6"/>
          <p:cNvSpPr/>
          <p:nvPr/>
        </p:nvSpPr>
        <p:spPr>
          <a:xfrm>
            <a:off x="365760" y="470916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 mensuel stable : </a:t>
            </a: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~480 000 € en 2021-2022, légère tendance haussière. </a:t>
            </a: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Baisse début 2023 </a:t>
            </a: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(données partielles – 2 mois seulement).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Répartition du CA par catégorie de produits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9" name="Google Shape;16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75" y="777250"/>
            <a:ext cx="4206249" cy="296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0" name="Google Shape;17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777248"/>
            <a:ext cx="4389125" cy="2960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1" name="Google Shape;171;p7"/>
          <p:cNvGraphicFramePr/>
          <p:nvPr/>
        </p:nvGraphicFramePr>
        <p:xfrm>
          <a:off x="365760" y="3958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{7E856BE6-2374-4B2F-AE03-964E2EBCFF20}</a:tableStyleId>
              </a:tblPr>
              <a:tblGrid>
                <a:gridCol w="1280150"/>
                <a:gridCol w="1645925"/>
                <a:gridCol w="2011675"/>
                <a:gridCol w="1371600"/>
                <a:gridCol w="1463050"/>
              </a:tblGrid>
              <a:tr h="12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Catégorie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Volume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 (€)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Prix moy.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 CA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12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Cat. 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415 459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4 419 731 €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10.64 €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36.75%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Cat. 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235 592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4 827 657 €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20.49 €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40.14%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Cat. 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36 483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2 780 275 €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76.21 €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23.12%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Activité mensuelle : Transactions, Sessions &amp; Panier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8" name="Google Shape;17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75" y="685800"/>
            <a:ext cx="4634499" cy="21945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9" name="Google Shape;17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875" y="2880350"/>
            <a:ext cx="4634499" cy="2263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0" name="Google Shape;18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7375" y="777250"/>
            <a:ext cx="4326625" cy="425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Top &amp; Flop produits – Références vendues par catégorie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274320" y="777240"/>
            <a:ext cx="3200400" cy="34747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274320" y="77724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TOP 10 produits (nb ventes)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274320" y="1152144"/>
            <a:ext cx="320040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365760" y="1197864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1. 1_369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2011680" y="1197864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2 340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274320" y="1499616"/>
            <a:ext cx="3200400" cy="329184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365760" y="1545336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2. 1_417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2011680" y="1545336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2 269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274320" y="1847088"/>
            <a:ext cx="320040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365760" y="1892808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3. 1_414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2011680" y="1892808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2 246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274320" y="2194560"/>
            <a:ext cx="3200400" cy="329184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365760" y="2240280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4. 1_498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2011680" y="2240280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2 202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274320" y="2542032"/>
            <a:ext cx="320040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365760" y="2587752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5. 1_425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2011680" y="2587752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2 163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274320" y="2889504"/>
            <a:ext cx="3200400" cy="329184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365760" y="2935224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6. 1_403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2011680" y="2935224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2 040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274320" y="3236976"/>
            <a:ext cx="320040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365760" y="3282696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7. 1_413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2011680" y="3282696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2 036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274320" y="3584448"/>
            <a:ext cx="3200400" cy="329184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365760" y="3630168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8. 1_412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2011680" y="3630168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2 014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274320" y="3931920"/>
            <a:ext cx="320040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365760" y="3977640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9. 1_406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2011680" y="3977640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2 003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274320" y="4279392"/>
            <a:ext cx="3200400" cy="329184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365760" y="4325112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10. 1_407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2011680" y="4325112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2 001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274320" y="4636008"/>
            <a:ext cx="3200400" cy="411480"/>
          </a:xfrm>
          <a:prstGeom prst="rect">
            <a:avLst/>
          </a:prstGeom>
          <a:solidFill>
            <a:srgbClr val="FEF3C7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320040" y="4681728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⚠  44 produits vendus ≤ 2 fois (dont catég. 0 et 2)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1" name="Google Shape;22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0" y="749808"/>
            <a:ext cx="5303520" cy="4297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44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243563"/>
          </a:solidFill>
          <a:ln cap="flat" cmpd="sng" w="12700">
            <a:solidFill>
              <a:srgbClr val="243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457200" y="109728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457200" y="21488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Profil des Clients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Répartition démographique, clients BtoB et courbe de Lorenz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Démographie clients : Genre &amp; Âge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7" name="Google Shape;23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777240"/>
            <a:ext cx="36576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8" name="Google Shape;23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23360" y="777240"/>
            <a:ext cx="4937760" cy="329184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1"/>
          <p:cNvSpPr/>
          <p:nvPr/>
        </p:nvSpPr>
        <p:spPr>
          <a:xfrm>
            <a:off x="4023360" y="4206240"/>
            <a:ext cx="1508760" cy="777240"/>
          </a:xfrm>
          <a:prstGeom prst="rect">
            <a:avLst/>
          </a:prstGeom>
          <a:solidFill>
            <a:srgbClr val="243563"/>
          </a:solidFill>
          <a:ln cap="flat" cmpd="sng" w="12700">
            <a:solidFill>
              <a:srgbClr val="243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"/>
          <p:cNvSpPr/>
          <p:nvPr/>
        </p:nvSpPr>
        <p:spPr>
          <a:xfrm>
            <a:off x="4069080" y="425196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52.08%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4069080" y="4663440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Femmes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5669280" y="4206240"/>
            <a:ext cx="1508760" cy="777240"/>
          </a:xfrm>
          <a:prstGeom prst="rect">
            <a:avLst/>
          </a:prstGeom>
          <a:solidFill>
            <a:srgbClr val="243563"/>
          </a:solidFill>
          <a:ln cap="flat" cmpd="sng" w="12700">
            <a:solidFill>
              <a:srgbClr val="243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5715000" y="425196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44.7 ans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5715000" y="4663440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Âge moyen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7315200" y="4206240"/>
            <a:ext cx="1508760" cy="777240"/>
          </a:xfrm>
          <a:prstGeom prst="rect">
            <a:avLst/>
          </a:prstGeom>
          <a:solidFill>
            <a:srgbClr val="243563"/>
          </a:solidFill>
          <a:ln cap="flat" cmpd="sng" w="12700">
            <a:solidFill>
              <a:srgbClr val="243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7360920" y="425196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19-94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7360920" y="4663440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Tranche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Identification des Clients BtoB (Top 4)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4" name="Google Shape;25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749808"/>
            <a:ext cx="41148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2"/>
          <p:cNvSpPr/>
          <p:nvPr/>
        </p:nvSpPr>
        <p:spPr>
          <a:xfrm>
            <a:off x="4572000" y="777240"/>
            <a:ext cx="4297680" cy="365760"/>
          </a:xfrm>
          <a:prstGeom prst="rect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2"/>
          <p:cNvSpPr/>
          <p:nvPr/>
        </p:nvSpPr>
        <p:spPr>
          <a:xfrm>
            <a:off x="4572000" y="77724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Clients suspects BtoB (&gt;5 000 transactions)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7" name="Google Shape;257;p12"/>
          <p:cNvGraphicFramePr/>
          <p:nvPr/>
        </p:nvGraphicFramePr>
        <p:xfrm>
          <a:off x="457200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{7E856BE6-2374-4B2F-AE03-964E2EBCFF20}</a:tableStyleId>
              </a:tblPr>
              <a:tblGrid>
                <a:gridCol w="1280150"/>
                <a:gridCol w="1554475"/>
                <a:gridCol w="13716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Transactions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c_1609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25 586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BtoB confirmé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c_6714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9 199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BtoB confirmé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c_3454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6 793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BtoB confirmé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c_4958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5 222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BtoB confirmé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8" name="Google Shape;258;p12"/>
          <p:cNvSpPr/>
          <p:nvPr/>
        </p:nvSpPr>
        <p:spPr>
          <a:xfrm>
            <a:off x="4572000" y="2697480"/>
            <a:ext cx="4297680" cy="1097280"/>
          </a:xfrm>
          <a:prstGeom prst="rect">
            <a:avLst/>
          </a:prstGeom>
          <a:solidFill>
            <a:srgbClr val="FEF3C7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2"/>
          <p:cNvSpPr/>
          <p:nvPr/>
        </p:nvSpPr>
        <p:spPr>
          <a:xfrm>
            <a:off x="4663440" y="2743200"/>
            <a:ext cx="4114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CA BtoB (Top 4) : </a:t>
            </a:r>
            <a:r>
              <a:rPr b="0" i="0" lang="en-US" sz="11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884 296 € → 7.35% du CA total</a:t>
            </a:r>
            <a:br>
              <a:rPr b="0" i="0" lang="en-US" sz="11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Clients exclus </a:t>
            </a:r>
            <a:r>
              <a:rPr b="0" i="0" lang="en-US" sz="11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des analyses statistiques suivantes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pour ne pas biaiser les résultats BtoC.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4572000" y="3977640"/>
            <a:ext cx="4297680" cy="1005840"/>
          </a:xfrm>
          <a:prstGeom prst="rect">
            <a:avLst/>
          </a:prstGeom>
          <a:solidFill>
            <a:srgbClr val="243563"/>
          </a:solidFill>
          <a:ln cap="flat" cmpd="sng" w="12700">
            <a:solidFill>
              <a:srgbClr val="243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2"/>
          <p:cNvSpPr/>
          <p:nvPr/>
        </p:nvSpPr>
        <p:spPr>
          <a:xfrm>
            <a:off x="4663440" y="4023360"/>
            <a:ext cx="4114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Indice de Gini global :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0.4419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Indice de Gini BtoC :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0.3983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→ Inégalité modérée : quelques clients concentrent une part notable du CA.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Courbe de Lorenz – Dispersion du CA par client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8" name="Google Shape;26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777240"/>
            <a:ext cx="5943600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3"/>
          <p:cNvSpPr/>
          <p:nvPr/>
        </p:nvSpPr>
        <p:spPr>
          <a:xfrm>
            <a:off x="6400800" y="777240"/>
            <a:ext cx="2560320" cy="411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3"/>
          <p:cNvSpPr/>
          <p:nvPr/>
        </p:nvSpPr>
        <p:spPr>
          <a:xfrm>
            <a:off x="6400800" y="777240"/>
            <a:ext cx="2560320" cy="3657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3"/>
          <p:cNvSpPr/>
          <p:nvPr/>
        </p:nvSpPr>
        <p:spPr>
          <a:xfrm>
            <a:off x="6400800" y="77724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Interprétation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6492240" y="1234440"/>
            <a:ext cx="237744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 courbe s'éloigne significativement de la diagonale d'égalité parfaite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Gini = 0.44 (global) et 0.40 (BtoC uniquement)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~20% des clients génèrent une part disproportionnée du CA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Les 4 BtoB (0.05% des clients) représentent 7.35% du CA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Concentration modérée comparable à d'autres commerces de détail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44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243563"/>
          </a:solidFill>
          <a:ln cap="flat" cmpd="sng" w="12700">
            <a:solidFill>
              <a:srgbClr val="243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4"/>
          <p:cNvSpPr/>
          <p:nvPr/>
        </p:nvSpPr>
        <p:spPr>
          <a:xfrm>
            <a:off x="457200" y="109728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4"/>
          <p:cNvSpPr/>
          <p:nvPr/>
        </p:nvSpPr>
        <p:spPr>
          <a:xfrm>
            <a:off x="457200" y="21488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Tests Statistiques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4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Khi², Spearman, Kruskal-Wallis – Profil BtoC uniquement (sans les 4 clients BtoB)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5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Test du Khi² — Genre vs Catégorie de livres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8" name="Google Shape;28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749808"/>
            <a:ext cx="5669280" cy="329184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5"/>
          <p:cNvSpPr/>
          <p:nvPr/>
        </p:nvSpPr>
        <p:spPr>
          <a:xfrm>
            <a:off x="6126480" y="749808"/>
            <a:ext cx="2834640" cy="3291840"/>
          </a:xfrm>
          <a:prstGeom prst="rect">
            <a:avLst/>
          </a:prstGeom>
          <a:solidFill>
            <a:srgbClr val="243563"/>
          </a:solidFill>
          <a:ln cap="flat" cmpd="sng" w="12700">
            <a:solidFill>
              <a:srgbClr val="243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5"/>
          <p:cNvSpPr/>
          <p:nvPr/>
        </p:nvSpPr>
        <p:spPr>
          <a:xfrm>
            <a:off x="6126480" y="82296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Résultats Khi²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5"/>
          <p:cNvSpPr/>
          <p:nvPr/>
        </p:nvSpPr>
        <p:spPr>
          <a:xfrm>
            <a:off x="6217920" y="132588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χ² stat.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5"/>
          <p:cNvSpPr/>
          <p:nvPr/>
        </p:nvSpPr>
        <p:spPr>
          <a:xfrm>
            <a:off x="7406640" y="13258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22.67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6217920" y="196596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p-value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7406640" y="19659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0.000012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6217920" y="26060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Ddl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5"/>
          <p:cNvSpPr/>
          <p:nvPr/>
        </p:nvSpPr>
        <p:spPr>
          <a:xfrm>
            <a:off x="7406640" y="26060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5"/>
          <p:cNvSpPr/>
          <p:nvPr/>
        </p:nvSpPr>
        <p:spPr>
          <a:xfrm>
            <a:off x="6217920" y="2514600"/>
            <a:ext cx="2651760" cy="5486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5"/>
          <p:cNvSpPr/>
          <p:nvPr/>
        </p:nvSpPr>
        <p:spPr>
          <a:xfrm>
            <a:off x="6217920" y="2651760"/>
            <a:ext cx="2651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✓ Conclusion :</a:t>
            </a:r>
            <a:b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 &lt; 0.05 → Association </a:t>
            </a: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significative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entre le genre et la catégorie de livres achetés.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9" name="Google Shape;299;p15"/>
          <p:cNvGraphicFramePr/>
          <p:nvPr/>
        </p:nvGraphicFramePr>
        <p:xfrm>
          <a:off x="274320" y="4206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{7E856BE6-2374-4B2F-AE03-964E2EBCFF20}</a:tableStyleId>
              </a:tblPr>
              <a:tblGrid>
                <a:gridCol w="1828800"/>
                <a:gridCol w="1280150"/>
                <a:gridCol w="1280150"/>
                <a:gridCol w="12801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Genre / Catég.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Cat. 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Cat. 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Cat. 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Femmes (f)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200 793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115 721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16 980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Hommes (m)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186 488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104 884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15 868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6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Corrélation Spearman — Âge vs Montant total d'achats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6" name="Google Shape;30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75" y="594351"/>
            <a:ext cx="6217924" cy="258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7" name="Google Shape;30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875" y="3181600"/>
            <a:ext cx="6217925" cy="19619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6"/>
          <p:cNvSpPr/>
          <p:nvPr/>
        </p:nvSpPr>
        <p:spPr>
          <a:xfrm>
            <a:off x="6583675" y="749798"/>
            <a:ext cx="2377500" cy="4206600"/>
          </a:xfrm>
          <a:prstGeom prst="rect">
            <a:avLst/>
          </a:prstGeom>
          <a:solidFill>
            <a:srgbClr val="243563"/>
          </a:solidFill>
          <a:ln cap="flat" cmpd="sng" w="12700">
            <a:solidFill>
              <a:srgbClr val="243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6"/>
          <p:cNvSpPr/>
          <p:nvPr/>
        </p:nvSpPr>
        <p:spPr>
          <a:xfrm>
            <a:off x="6583680" y="82296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Spearman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6"/>
          <p:cNvSpPr/>
          <p:nvPr/>
        </p:nvSpPr>
        <p:spPr>
          <a:xfrm>
            <a:off x="6675120" y="128016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ρ (rho)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6"/>
          <p:cNvSpPr/>
          <p:nvPr/>
        </p:nvSpPr>
        <p:spPr>
          <a:xfrm>
            <a:off x="7772400" y="128016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-0.1845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6"/>
          <p:cNvSpPr/>
          <p:nvPr/>
        </p:nvSpPr>
        <p:spPr>
          <a:xfrm>
            <a:off x="6675120" y="181051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p-value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6"/>
          <p:cNvSpPr/>
          <p:nvPr/>
        </p:nvSpPr>
        <p:spPr>
          <a:xfrm>
            <a:off x="7772400" y="181051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&lt; 0.001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6"/>
          <p:cNvSpPr/>
          <p:nvPr/>
        </p:nvSpPr>
        <p:spPr>
          <a:xfrm>
            <a:off x="6675120" y="2340864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Moy. achats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6"/>
          <p:cNvSpPr/>
          <p:nvPr/>
        </p:nvSpPr>
        <p:spPr>
          <a:xfrm>
            <a:off x="7772400" y="2340864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1 296 €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6"/>
          <p:cNvSpPr/>
          <p:nvPr/>
        </p:nvSpPr>
        <p:spPr>
          <a:xfrm>
            <a:off x="6675120" y="287121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Écart-type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6"/>
          <p:cNvSpPr/>
          <p:nvPr/>
        </p:nvSpPr>
        <p:spPr>
          <a:xfrm>
            <a:off x="7772400" y="287121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958 €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6"/>
          <p:cNvSpPr/>
          <p:nvPr/>
        </p:nvSpPr>
        <p:spPr>
          <a:xfrm>
            <a:off x="6583670" y="3181600"/>
            <a:ext cx="2286000" cy="15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✓ Corrélation négative</a:t>
            </a:r>
            <a:b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faible mais significative 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plus le client est âgé, moins il dépense au total.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7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Spearman — Âge vs Fréquence d'achat  |  Âge vs Panier moyen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5" name="Google Shape;32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749808"/>
            <a:ext cx="4389120" cy="2103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6" name="Google Shape;32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3440" y="749808"/>
            <a:ext cx="4389120" cy="2103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7" name="Google Shape;32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2880" y="2926080"/>
            <a:ext cx="4389120" cy="2103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8" name="Google Shape;32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2926080"/>
            <a:ext cx="4389120" cy="2103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8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ANOVA non-paramétrique (Kruskal-Wallis) — Âge vs Catégorie dominante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5" name="Google Shape;33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749808"/>
            <a:ext cx="5943600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8"/>
          <p:cNvSpPr/>
          <p:nvPr/>
        </p:nvSpPr>
        <p:spPr>
          <a:xfrm>
            <a:off x="6309360" y="749808"/>
            <a:ext cx="2651760" cy="3840480"/>
          </a:xfrm>
          <a:prstGeom prst="rect">
            <a:avLst/>
          </a:prstGeom>
          <a:solidFill>
            <a:srgbClr val="243563"/>
          </a:solidFill>
          <a:ln cap="flat" cmpd="sng" w="12700">
            <a:solidFill>
              <a:srgbClr val="243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8"/>
          <p:cNvSpPr/>
          <p:nvPr/>
        </p:nvSpPr>
        <p:spPr>
          <a:xfrm>
            <a:off x="6309360" y="82296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Kruskal-Wallis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8"/>
          <p:cNvSpPr/>
          <p:nvPr/>
        </p:nvSpPr>
        <p:spPr>
          <a:xfrm>
            <a:off x="6400800" y="132588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Stat. 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8"/>
          <p:cNvSpPr/>
          <p:nvPr/>
        </p:nvSpPr>
        <p:spPr>
          <a:xfrm>
            <a:off x="7498080" y="13258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2172.59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8"/>
          <p:cNvSpPr/>
          <p:nvPr/>
        </p:nvSpPr>
        <p:spPr>
          <a:xfrm>
            <a:off x="6400800" y="192024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p-value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8"/>
          <p:cNvSpPr/>
          <p:nvPr/>
        </p:nvSpPr>
        <p:spPr>
          <a:xfrm>
            <a:off x="7498080" y="19202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&lt; 0.001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8"/>
          <p:cNvSpPr/>
          <p:nvPr/>
        </p:nvSpPr>
        <p:spPr>
          <a:xfrm>
            <a:off x="6400800" y="251460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Groupes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8"/>
          <p:cNvSpPr/>
          <p:nvPr/>
        </p:nvSpPr>
        <p:spPr>
          <a:xfrm>
            <a:off x="7498080" y="25146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3 (cat. 0-2)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4" name="Google Shape;344;p18"/>
          <p:cNvCxnSpPr/>
          <p:nvPr/>
        </p:nvCxnSpPr>
        <p:spPr>
          <a:xfrm>
            <a:off x="6400800" y="3200400"/>
            <a:ext cx="2468880" cy="0"/>
          </a:xfrm>
          <a:prstGeom prst="straightConnector1">
            <a:avLst/>
          </a:prstGeom>
          <a:noFill/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5" name="Google Shape;345;p18"/>
          <p:cNvSpPr/>
          <p:nvPr/>
        </p:nvSpPr>
        <p:spPr>
          <a:xfrm>
            <a:off x="6400800" y="3291840"/>
            <a:ext cx="24688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✓ Conclusion :</a:t>
            </a:r>
            <a:b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Les distributions d'âge diffèrent </a:t>
            </a: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significativement</a:t>
            </a: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entre les 3 groupes.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Le test Shapiro indique non-normalité → justifie Kruskal-Wallis.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9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Synthèse des 5 tests statistiques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2" name="Google Shape;352;p19"/>
          <p:cNvCxnSpPr/>
          <p:nvPr/>
        </p:nvCxnSpPr>
        <p:spPr>
          <a:xfrm>
            <a:off x="365760" y="713232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3" name="Google Shape;353;p19"/>
          <p:cNvSpPr/>
          <p:nvPr/>
        </p:nvSpPr>
        <p:spPr>
          <a:xfrm>
            <a:off x="274320" y="822960"/>
            <a:ext cx="502920" cy="71323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9"/>
          <p:cNvSpPr/>
          <p:nvPr/>
        </p:nvSpPr>
        <p:spPr>
          <a:xfrm>
            <a:off x="274320" y="987552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9"/>
          <p:cNvSpPr/>
          <p:nvPr/>
        </p:nvSpPr>
        <p:spPr>
          <a:xfrm>
            <a:off x="841248" y="822960"/>
            <a:ext cx="804672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9"/>
          <p:cNvSpPr/>
          <p:nvPr/>
        </p:nvSpPr>
        <p:spPr>
          <a:xfrm>
            <a:off x="960120" y="877824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Test du Khi² (χ²)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9"/>
          <p:cNvSpPr/>
          <p:nvPr/>
        </p:nvSpPr>
        <p:spPr>
          <a:xfrm>
            <a:off x="960120" y="117043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Genre ↔ Catégorie de livres achetés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9"/>
          <p:cNvSpPr/>
          <p:nvPr/>
        </p:nvSpPr>
        <p:spPr>
          <a:xfrm>
            <a:off x="3063240" y="100584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χ² = 22.67 | p = 0.000012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9"/>
          <p:cNvSpPr/>
          <p:nvPr/>
        </p:nvSpPr>
        <p:spPr>
          <a:xfrm>
            <a:off x="5623560" y="932688"/>
            <a:ext cx="32004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Association significative : le genre influence la catégorie achetée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9"/>
          <p:cNvSpPr/>
          <p:nvPr/>
        </p:nvSpPr>
        <p:spPr>
          <a:xfrm>
            <a:off x="274320" y="1664208"/>
            <a:ext cx="502920" cy="71323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9"/>
          <p:cNvSpPr/>
          <p:nvPr/>
        </p:nvSpPr>
        <p:spPr>
          <a:xfrm>
            <a:off x="274320" y="1828800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9"/>
          <p:cNvSpPr/>
          <p:nvPr/>
        </p:nvSpPr>
        <p:spPr>
          <a:xfrm>
            <a:off x="841248" y="1664208"/>
            <a:ext cx="8046720" cy="713232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9"/>
          <p:cNvSpPr/>
          <p:nvPr/>
        </p:nvSpPr>
        <p:spPr>
          <a:xfrm>
            <a:off x="960120" y="171907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Spearman (ρ) — Montant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9"/>
          <p:cNvSpPr/>
          <p:nvPr/>
        </p:nvSpPr>
        <p:spPr>
          <a:xfrm>
            <a:off x="960120" y="201168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Âge ↔ Montant total d'achats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9"/>
          <p:cNvSpPr/>
          <p:nvPr/>
        </p:nvSpPr>
        <p:spPr>
          <a:xfrm>
            <a:off x="3063240" y="184708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ρ = -0.1845 | p &lt; 0.001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9"/>
          <p:cNvSpPr/>
          <p:nvPr/>
        </p:nvSpPr>
        <p:spPr>
          <a:xfrm>
            <a:off x="5623560" y="1773936"/>
            <a:ext cx="32004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Corrélation négative faible : les clients plus jeunes dépensent plus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9"/>
          <p:cNvSpPr/>
          <p:nvPr/>
        </p:nvSpPr>
        <p:spPr>
          <a:xfrm>
            <a:off x="274320" y="2505456"/>
            <a:ext cx="502920" cy="71323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9"/>
          <p:cNvSpPr/>
          <p:nvPr/>
        </p:nvSpPr>
        <p:spPr>
          <a:xfrm>
            <a:off x="274320" y="2670048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9"/>
          <p:cNvSpPr/>
          <p:nvPr/>
        </p:nvSpPr>
        <p:spPr>
          <a:xfrm>
            <a:off x="841248" y="2505456"/>
            <a:ext cx="804672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9"/>
          <p:cNvSpPr/>
          <p:nvPr/>
        </p:nvSpPr>
        <p:spPr>
          <a:xfrm>
            <a:off x="960120" y="256032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Spearman (ρ) — Fréquence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9"/>
          <p:cNvSpPr/>
          <p:nvPr/>
        </p:nvSpPr>
        <p:spPr>
          <a:xfrm>
            <a:off x="960120" y="285292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Âge ↔ Fréquence d'achat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9"/>
          <p:cNvSpPr/>
          <p:nvPr/>
        </p:nvSpPr>
        <p:spPr>
          <a:xfrm>
            <a:off x="3063240" y="2688336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ρ = +0.1277 | p &lt; 0.001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9"/>
          <p:cNvSpPr/>
          <p:nvPr/>
        </p:nvSpPr>
        <p:spPr>
          <a:xfrm>
            <a:off x="5623560" y="2615184"/>
            <a:ext cx="32004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Corrélation positive faible : les clients âgés achètent un peu plus souvent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9"/>
          <p:cNvSpPr/>
          <p:nvPr/>
        </p:nvSpPr>
        <p:spPr>
          <a:xfrm>
            <a:off x="274320" y="3346704"/>
            <a:ext cx="502920" cy="713232"/>
          </a:xfrm>
          <a:prstGeom prst="rect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9"/>
          <p:cNvSpPr/>
          <p:nvPr/>
        </p:nvSpPr>
        <p:spPr>
          <a:xfrm>
            <a:off x="274320" y="3511296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9"/>
          <p:cNvSpPr/>
          <p:nvPr/>
        </p:nvSpPr>
        <p:spPr>
          <a:xfrm>
            <a:off x="841248" y="3346704"/>
            <a:ext cx="8046720" cy="713232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9"/>
          <p:cNvSpPr/>
          <p:nvPr/>
        </p:nvSpPr>
        <p:spPr>
          <a:xfrm>
            <a:off x="960120" y="340156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Spearman (ρ) — Panier moyen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9"/>
          <p:cNvSpPr/>
          <p:nvPr/>
        </p:nvSpPr>
        <p:spPr>
          <a:xfrm>
            <a:off x="960120" y="3694176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Âge ↔ Panier moyen par session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9"/>
          <p:cNvSpPr/>
          <p:nvPr/>
        </p:nvSpPr>
        <p:spPr>
          <a:xfrm>
            <a:off x="3063240" y="3529584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ρ = -0.3259 | p &lt; 0.001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9"/>
          <p:cNvSpPr/>
          <p:nvPr/>
        </p:nvSpPr>
        <p:spPr>
          <a:xfrm>
            <a:off x="5623560" y="3456432"/>
            <a:ext cx="32004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Corrélation négative modérée : panier moyen décroît avec l'âge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9"/>
          <p:cNvSpPr/>
          <p:nvPr/>
        </p:nvSpPr>
        <p:spPr>
          <a:xfrm>
            <a:off x="274320" y="4187952"/>
            <a:ext cx="502920" cy="713232"/>
          </a:xfrm>
          <a:prstGeom prst="rect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9"/>
          <p:cNvSpPr/>
          <p:nvPr/>
        </p:nvSpPr>
        <p:spPr>
          <a:xfrm>
            <a:off x="274320" y="4352544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9"/>
          <p:cNvSpPr/>
          <p:nvPr/>
        </p:nvSpPr>
        <p:spPr>
          <a:xfrm>
            <a:off x="841248" y="4187952"/>
            <a:ext cx="804672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9"/>
          <p:cNvSpPr/>
          <p:nvPr/>
        </p:nvSpPr>
        <p:spPr>
          <a:xfrm>
            <a:off x="960120" y="4242816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Kruskal-Wallis (ANOVA np)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9"/>
          <p:cNvSpPr/>
          <p:nvPr/>
        </p:nvSpPr>
        <p:spPr>
          <a:xfrm>
            <a:off x="960120" y="4535424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Âge ↔ Catégorie dominante achetée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9"/>
          <p:cNvSpPr/>
          <p:nvPr/>
        </p:nvSpPr>
        <p:spPr>
          <a:xfrm>
            <a:off x="3063240" y="4370832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H = 2172.59 | p &lt; 0.001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9"/>
          <p:cNvSpPr/>
          <p:nvPr/>
        </p:nvSpPr>
        <p:spPr>
          <a:xfrm>
            <a:off x="5623560" y="4297680"/>
            <a:ext cx="32004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Différences d'âge très significatives entre les 3 groupes de catégorie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44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0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243563"/>
          </a:solidFill>
          <a:ln cap="flat" cmpd="sng" w="12700">
            <a:solidFill>
              <a:srgbClr val="243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0"/>
          <p:cNvSpPr/>
          <p:nvPr/>
        </p:nvSpPr>
        <p:spPr>
          <a:xfrm>
            <a:off x="457200" y="109728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0"/>
          <p:cNvSpPr/>
          <p:nvPr/>
        </p:nvSpPr>
        <p:spPr>
          <a:xfrm>
            <a:off x="457200" y="21488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Conclusions &amp; Recommandations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Conclusions de l'analyse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1"/>
          <p:cNvSpPr/>
          <p:nvPr/>
        </p:nvSpPr>
        <p:spPr>
          <a:xfrm>
            <a:off x="274320" y="868680"/>
            <a:ext cx="4206240" cy="2011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1"/>
          <p:cNvSpPr/>
          <p:nvPr/>
        </p:nvSpPr>
        <p:spPr>
          <a:xfrm>
            <a:off x="274320" y="868680"/>
            <a:ext cx="4206240" cy="38404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1"/>
          <p:cNvSpPr/>
          <p:nvPr/>
        </p:nvSpPr>
        <p:spPr>
          <a:xfrm>
            <a:off x="365760" y="923544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📊  Chiffre d'affaires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1"/>
          <p:cNvSpPr/>
          <p:nvPr/>
        </p:nvSpPr>
        <p:spPr>
          <a:xfrm>
            <a:off x="365760" y="1325880"/>
            <a:ext cx="40233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 total : 12,0M € sur 24 mois, stable ~480K€/mois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Catégorie 1 génère le plus de CA (40.14%), malgré un volume inférieur à cat. 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Catégorie 2 : prix moyen élevé (76€) mais faible volume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1"/>
          <p:cNvSpPr/>
          <p:nvPr/>
        </p:nvSpPr>
        <p:spPr>
          <a:xfrm>
            <a:off x="4754880" y="868680"/>
            <a:ext cx="4206240" cy="2011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1"/>
          <p:cNvSpPr/>
          <p:nvPr/>
        </p:nvSpPr>
        <p:spPr>
          <a:xfrm>
            <a:off x="4754880" y="868680"/>
            <a:ext cx="4206240" cy="38404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1"/>
          <p:cNvSpPr/>
          <p:nvPr/>
        </p:nvSpPr>
        <p:spPr>
          <a:xfrm>
            <a:off x="4846320" y="923544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👥  Profil clients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1"/>
          <p:cNvSpPr/>
          <p:nvPr/>
        </p:nvSpPr>
        <p:spPr>
          <a:xfrm>
            <a:off x="4846320" y="1325880"/>
            <a:ext cx="40233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Clientèle équilibrée : 52% femmes, âge moyen 44.7 ans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 clients BtoB concentrent 7.35% du CA → à traiter séparément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Gini BtoC = 0.40 → concentration modérée, portefeuille clients sain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1"/>
          <p:cNvSpPr/>
          <p:nvPr/>
        </p:nvSpPr>
        <p:spPr>
          <a:xfrm>
            <a:off x="274320" y="3063240"/>
            <a:ext cx="4206240" cy="2011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1"/>
          <p:cNvSpPr/>
          <p:nvPr/>
        </p:nvSpPr>
        <p:spPr>
          <a:xfrm>
            <a:off x="274320" y="3063240"/>
            <a:ext cx="4206240" cy="384048"/>
          </a:xfrm>
          <a:prstGeom prst="rect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1"/>
          <p:cNvSpPr/>
          <p:nvPr/>
        </p:nvSpPr>
        <p:spPr>
          <a:xfrm>
            <a:off x="365760" y="3118104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📈  Tests statistiques (BtoC)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1"/>
          <p:cNvSpPr/>
          <p:nvPr/>
        </p:nvSpPr>
        <p:spPr>
          <a:xfrm>
            <a:off x="365760" y="3520440"/>
            <a:ext cx="40233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Le genre influence la catégorie achetée (Khi² significatif)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L'âge corrèle négativement avec le panier moyen (ρ=-0.33, fort)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L'âge différencie significativement les préférences de catégorie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1"/>
          <p:cNvSpPr/>
          <p:nvPr/>
        </p:nvSpPr>
        <p:spPr>
          <a:xfrm>
            <a:off x="4754880" y="3063240"/>
            <a:ext cx="4206240" cy="2011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1"/>
          <p:cNvSpPr/>
          <p:nvPr/>
        </p:nvSpPr>
        <p:spPr>
          <a:xfrm>
            <a:off x="4754880" y="3063240"/>
            <a:ext cx="4206240" cy="384048"/>
          </a:xfrm>
          <a:prstGeom prst="rect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1"/>
          <p:cNvSpPr/>
          <p:nvPr/>
        </p:nvSpPr>
        <p:spPr>
          <a:xfrm>
            <a:off x="4846320" y="3118104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💡  Recommandations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1"/>
          <p:cNvSpPr/>
          <p:nvPr/>
        </p:nvSpPr>
        <p:spPr>
          <a:xfrm>
            <a:off x="4846320" y="3520440"/>
            <a:ext cx="40233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Cibler les jeunes clients pour la catégorie 2 (prix élevé)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Segmenter les BtoB pour une offre commerciale dédiée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Analyser la baisse début 2023 avec données complètes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44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2"/>
          <p:cNvSpPr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Merci pour votre attention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5" name="Google Shape;425;p22"/>
          <p:cNvCxnSpPr/>
          <p:nvPr/>
        </p:nvCxnSpPr>
        <p:spPr>
          <a:xfrm>
            <a:off x="2286000" y="2514600"/>
            <a:ext cx="4572000" cy="0"/>
          </a:xfrm>
          <a:prstGeom prst="straightConnector1">
            <a:avLst/>
          </a:prstGeom>
          <a:noFill/>
          <a:ln cap="flat" cmpd="sng" w="254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6" name="Google Shape;426;p22"/>
          <p:cNvSpPr/>
          <p:nvPr/>
        </p:nvSpPr>
        <p:spPr>
          <a:xfrm>
            <a:off x="548640" y="269748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Projet 9 – Analyse des ventes d'une librairie avec Python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2"/>
          <p:cNvSpPr/>
          <p:nvPr/>
        </p:nvSpPr>
        <p:spPr>
          <a:xfrm>
            <a:off x="1371600" y="3383280"/>
            <a:ext cx="1554480" cy="1188720"/>
          </a:xfrm>
          <a:prstGeom prst="rect">
            <a:avLst/>
          </a:prstGeom>
          <a:solidFill>
            <a:srgbClr val="243563"/>
          </a:solidFill>
          <a:ln cap="flat" cmpd="sng" w="12700">
            <a:solidFill>
              <a:srgbClr val="243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2"/>
          <p:cNvSpPr/>
          <p:nvPr/>
        </p:nvSpPr>
        <p:spPr>
          <a:xfrm>
            <a:off x="1417320" y="3438144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12,0M €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2"/>
          <p:cNvSpPr/>
          <p:nvPr/>
        </p:nvSpPr>
        <p:spPr>
          <a:xfrm>
            <a:off x="1417320" y="398678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CA Total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2"/>
          <p:cNvSpPr/>
          <p:nvPr/>
        </p:nvSpPr>
        <p:spPr>
          <a:xfrm>
            <a:off x="3108960" y="3383280"/>
            <a:ext cx="1554480" cy="1188720"/>
          </a:xfrm>
          <a:prstGeom prst="rect">
            <a:avLst/>
          </a:prstGeom>
          <a:solidFill>
            <a:srgbClr val="243563"/>
          </a:solidFill>
          <a:ln cap="flat" cmpd="sng" w="12700">
            <a:solidFill>
              <a:srgbClr val="243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2"/>
          <p:cNvSpPr/>
          <p:nvPr/>
        </p:nvSpPr>
        <p:spPr>
          <a:xfrm>
            <a:off x="3154680" y="3438144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687 534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2"/>
          <p:cNvSpPr/>
          <p:nvPr/>
        </p:nvSpPr>
        <p:spPr>
          <a:xfrm>
            <a:off x="3154680" y="398678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Transactions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2"/>
          <p:cNvSpPr/>
          <p:nvPr/>
        </p:nvSpPr>
        <p:spPr>
          <a:xfrm>
            <a:off x="4846320" y="3383280"/>
            <a:ext cx="1554480" cy="1188720"/>
          </a:xfrm>
          <a:prstGeom prst="rect">
            <a:avLst/>
          </a:prstGeom>
          <a:solidFill>
            <a:srgbClr val="243563"/>
          </a:solidFill>
          <a:ln cap="flat" cmpd="sng" w="12700">
            <a:solidFill>
              <a:srgbClr val="243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2"/>
          <p:cNvSpPr/>
          <p:nvPr/>
        </p:nvSpPr>
        <p:spPr>
          <a:xfrm>
            <a:off x="4892040" y="3438144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8 600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2"/>
          <p:cNvSpPr/>
          <p:nvPr/>
        </p:nvSpPr>
        <p:spPr>
          <a:xfrm>
            <a:off x="4892040" y="398678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Clients actifs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2"/>
          <p:cNvSpPr/>
          <p:nvPr/>
        </p:nvSpPr>
        <p:spPr>
          <a:xfrm>
            <a:off x="6583680" y="3383280"/>
            <a:ext cx="1554480" cy="1188720"/>
          </a:xfrm>
          <a:prstGeom prst="rect">
            <a:avLst/>
          </a:prstGeom>
          <a:solidFill>
            <a:srgbClr val="243563"/>
          </a:solidFill>
          <a:ln cap="flat" cmpd="sng" w="12700">
            <a:solidFill>
              <a:srgbClr val="243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2"/>
          <p:cNvSpPr/>
          <p:nvPr/>
        </p:nvSpPr>
        <p:spPr>
          <a:xfrm>
            <a:off x="6629400" y="3438144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2"/>
          <p:cNvSpPr/>
          <p:nvPr/>
        </p:nvSpPr>
        <p:spPr>
          <a:xfrm>
            <a:off x="6629400" y="398678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Tests stat.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2026-05-03T14:45:03Z</dcterms:created>
  <dc:creator>PptxGenJS</dc:creator>
</cp:coreProperties>
</file>