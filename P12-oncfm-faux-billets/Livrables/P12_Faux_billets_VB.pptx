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Arial"/>
              </a:rPr>
              <a:t>Répartition des billets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Billets</c:v>
                </c:pt>
              </c:strCache>
            </c:strRef>
          </c:tx>
          <c:spPr>
            <a:solidFill>
              <a:srgbClr val="2E86A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B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86A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Vrais billets</c:v>
                  </c:pt>
                  <c:pt idx="1">
                    <c:v>Faux billets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1000</c:v>
                </c:pt>
                <c:pt idx="1">
                  <c:v>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1B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263275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26327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ONCFM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Détection automatique de faux billets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de quatre algorithmes de classification et livraison d'une application de prédiction — Projet 12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nationale de lutte contre le faux-monnayage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&amp; objectifs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1264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L'ONCFM lutte contre la contrefaçon des billets en euros.
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billet scanné est décrit par six caractéristiques géométriques. Ces différences entre vrais et faux billets sont réelles mais invisibles à l'œil nu.
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construire un algorithme capable de classer automatiquement un billet comme vrai ou faux à partir de ses seules mesures géométriques, puis le livrer sous forme d'application utilisable au quotidien.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223760" y="141732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0" y="17373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555480" y="141732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46920" y="17373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Hauteur gauche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223760" y="283464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0" y="3154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Hauteur droite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555480" y="283464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46920" y="3154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basse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223760" y="425196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0" y="4572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haute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555480" y="425196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46920" y="4572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Longueur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223760" y="56235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caractéristiques géométriques mesurées automatiquement à la machine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jeu de données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1 500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billets scannés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651760" y="13716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1 000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651760" y="2148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vrais billets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0" y="13716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754880" y="2148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billets</a:t>
            </a:r>
            <a:endParaRPr lang="en-US" sz="13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57200" y="2834640"/>
          <a:ext cx="60350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6766560" y="301752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valeur manquante à traiter
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colonne margin_low (marge basse) comporte 37 valeurs manquantes sur 1500 billets, réparties entre vrais et faux billets. Ce point est traité avant la modélisation (voir slide suivante).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766560" y="5120640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FFF6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49440" y="5193792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de paramétrisation fourni par l'ONCFM, utilisé pour entraîner et évaluer l'algorithme avant sa mise en production.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descriptive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des six caractéristiques géométriques selon la nature du billet</a:t>
            </a:r>
            <a:endParaRPr lang="en-US" sz="1300" dirty="0"/>
          </a:p>
        </p:txBody>
      </p:sp>
      <p:pic>
        <p:nvPicPr>
          <p:cNvPr id="4" name="Image 0" descr="images/boxplots_variab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795528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732520" y="1463040"/>
            <a:ext cx="2926080" cy="4389120"/>
          </a:xfrm>
          <a:prstGeom prst="roundRect">
            <a:avLst>
              <a:gd name="adj" fmla="val 25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915400" y="1645920"/>
            <a:ext cx="2606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observe
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 longueur (length) sépare très nettement vrais et faux billets : les faux sont globalement plus courts.
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Les marges et hauteurs montrent des écarts plus modérés mais bien réels.
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Ces différences, invisibles à l'œil nu, sont exploitables par un algorithme.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descriptive — vue croisée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Pairplot des six caractéristiques géométriques, croisées deux à deux</a:t>
            </a:r>
            <a:endParaRPr lang="en-US" sz="1300" dirty="0"/>
          </a:p>
        </p:txBody>
      </p:sp>
      <p:pic>
        <p:nvPicPr>
          <p:cNvPr id="4" name="Image 0" descr="images/pairpl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371600"/>
            <a:ext cx="6492240" cy="5074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92440" y="1463040"/>
            <a:ext cx="3566160" cy="4846320"/>
          </a:xfrm>
          <a:prstGeom prst="roundRect">
            <a:avLst>
              <a:gd name="adj" fmla="val 2051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75320" y="1645920"/>
            <a:ext cx="32004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le lire
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Sur la diagonale : la distribution de chaque variable seule. Plus les courbes bleue et rouge sont écartées, plus la variable discrimine à elle seule.
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Hors diagonale : chaque nuage croise deux variables. Des points bleus et rouges bien séparés confirment leur pouvoir discriminant combiné.
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 nuage très allongé entre height_left et height_right confirme leur forte corrélation.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Traitement des valeurs manquantes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billets ont une marge basse (margin_low) manquante — imputation par régression linéaire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Constat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valeurs manquantes sur margin_low, réparties entre vrais et faux billets.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27248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37560" y="182880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2011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Modèle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20440" y="251460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linéaire entraînée sur les billets complets, à partir des 5 autres mesures géométriques.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16168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126480" y="182880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011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Évaluation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09360" y="251460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d'environ 0.55 sur le jeu de test : estimation raisonnable pour ce besoin ponctuel.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705088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915400" y="182880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98280" y="2011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Application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098280" y="251460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37 valeurs manquantes sont remplacées par la prédiction du modèle avant l'entraînement final.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51206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variable margin_low reste utile pour la suite : elle n'est jamais supprimée, seulement complétée.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Quatre algorithmes mis en concurrence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de l'agence européenne EMV — comparés sur un jeu de test représentant 20% des billets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94767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logistique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2423160"/>
            <a:ext cx="41605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linéaire simple, rapide et interprétable, particulièrement adapté à une séparation nette entre les deux classes.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80760" y="169164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965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0" y="194767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40880" y="2423160"/>
            <a:ext cx="41605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Regroupement des billets en 2 clusters à partir des distances ; chaque cluster est associé à la classe majoritaire pour la prédiction.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206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418795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4663440"/>
            <a:ext cx="41605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selon la classe majoritaire des k billets les plus proches, k optimisé par validation croisée.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80760" y="393192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4206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880" y="418795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40880" y="4663440"/>
            <a:ext cx="41605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d'arbres de décision, robuste et non-linéaire, avec analyse de l'importance des variables.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Régression logistique — en détail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des variables dans le modèle, et capacité de discrimination (courbe ROC)</a:t>
            </a:r>
            <a:endParaRPr lang="en-US" sz="1300" dirty="0"/>
          </a:p>
        </p:txBody>
      </p:sp>
      <p:pic>
        <p:nvPicPr>
          <p:cNvPr id="4" name="Image 0" descr="images/coefficients_logistiq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63040"/>
            <a:ext cx="5669280" cy="3566160"/>
          </a:xfrm>
          <a:prstGeom prst="rect">
            <a:avLst/>
          </a:prstGeom>
        </p:spPr>
      </p:pic>
      <p:pic>
        <p:nvPicPr>
          <p:cNvPr id="5" name="Image 1" descr="images/roc_logistiq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63040"/>
            <a:ext cx="5394960" cy="40233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65760" y="5166360"/>
            <a:ext cx="566928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02920" y="5230368"/>
            <a:ext cx="5394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longueur (length) a le coefficient le plus élevé : c'est la variable la plus déterminante pour distinguer un vrai d'un faux billet.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6263640" y="562356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9" name="Text 5"/>
          <p:cNvSpPr/>
          <p:nvPr/>
        </p:nvSpPr>
        <p:spPr>
          <a:xfrm>
            <a:off x="6400800" y="566928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0.9995 — discrimination quasi parfaite entre vrais et faux billets, quel que soit le seuil choisi.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KNN — en détail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du nombre de voisins k par validation croisée à 5 plis</a:t>
            </a:r>
            <a:endParaRPr lang="en-US" sz="1300" dirty="0"/>
          </a:p>
        </p:txBody>
      </p:sp>
      <p:pic>
        <p:nvPicPr>
          <p:cNvPr id="4" name="Image 0" descr="images/knn_k_ch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6675120" cy="4160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06640" y="1463040"/>
            <a:ext cx="4251960" cy="4160520"/>
          </a:xfrm>
          <a:prstGeom prst="roundRect">
            <a:avLst>
              <a:gd name="adj" fmla="val 1758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89520" y="1691640"/>
            <a:ext cx="38862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retenu : 12
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Meilleure accuracy en validation croisée sur le jeu d'entraînement.
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sur le jeu de test :
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Accuracy : 99,33 %
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Rappel sur les faux billets : 99 %
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C'est, sur ce jeu de test précis, le meilleur score des 4 modèles testés.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— en détail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de chaque variable dans les 200 arbres de décision</a:t>
            </a:r>
            <a:endParaRPr lang="en-US" sz="1300" dirty="0"/>
          </a:p>
        </p:txBody>
      </p:sp>
      <p:pic>
        <p:nvPicPr>
          <p:cNvPr id="4" name="Image 0" descr="images/importance_r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463040"/>
            <a:ext cx="6675120" cy="4160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46720" y="146304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0" y="1691640"/>
            <a:ext cx="32461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observe
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est de loin la variable la plus utilisée par les arbres pour séparer les classes, suivie par margin_low.
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classement rejoint exactement celui des coefficients de la régression logistique.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Comparaison des performances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Mesurées sur le jeu de test (300 billets), avec une attention particulière au rappel sur les faux billets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2377440"/>
        </p:xfrm>
        <a:graphic>
          <a:graphicData uri="http://schemas.openxmlformats.org/drawingml/2006/table">
            <a:tbl>
              <a:tblPr/>
              <a:tblGrid>
                <a:gridCol w="3017520"/>
                <a:gridCol w="2011680"/>
                <a:gridCol w="2011680"/>
                <a:gridCol w="201168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Précision (vrai)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Rappel (vrai)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Rappel (faux détectés)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Régression logistique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99.00%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98.67%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(k=12)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99.00%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images/matrices_confu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4206240"/>
            <a:ext cx="4846320" cy="2514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949440" y="4297680"/>
            <a:ext cx="4663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résumé
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quatre modèles atteignent tous une très bonne performance (98,7-99,3% d'accuracy). Sur ce jeu de test, le KNN (k=12) obtient le meilleur score, mais l'écart avec les autres modèles reste faible (moins de 2 billets sur 300). La courbe ROC de la régression logistique confirme sa très bonne performance avec une AUC de 0.9995.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non supervisée : évaluation des clusters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(k=2) appliqué sans utiliser l'étiquette vrai/faux, pour vérifier la structure naturelle des données</a:t>
            </a:r>
            <a:endParaRPr lang="en-US" sz="1300" dirty="0"/>
          </a:p>
        </p:txBody>
      </p:sp>
      <p:pic>
        <p:nvPicPr>
          <p:cNvPr id="4" name="Image 0" descr="images/choix_k_kme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6400800" cy="2331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086600" y="1463040"/>
            <a:ext cx="4572000" cy="2331720"/>
          </a:xfrm>
          <a:prstGeom prst="roundRect">
            <a:avLst>
              <a:gd name="adj" fmla="val 3137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269480" y="1600200"/>
            <a:ext cx="42062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 des clusters
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silhouette maximal pour k=2 (≈ 0.34) : deux groupes cohésifs et bien séparés, confirmés par la méthode du coude.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7498080" cy="1463040"/>
        </p:xfrm>
        <a:graphic>
          <a:graphicData uri="http://schemas.openxmlformats.org/drawingml/2006/table">
            <a:tbl>
              <a:tblPr/>
              <a:tblGrid>
                <a:gridCol w="2377440"/>
                <a:gridCol w="1737360"/>
                <a:gridCol w="1737360"/>
                <a:gridCol w="1645920"/>
              </a:tblGrid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Longueur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Marge basse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Marge haute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6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→ vrais billets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113.18 mm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4.13 mm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3.05 mm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→ faux billets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111.61 mm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5.22 mm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3.35 mm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8275320" y="3977640"/>
            <a:ext cx="33832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Caractérisation des groupes
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clustering retrouve, sans utiliser l'étiquette réelle, les mêmes écarts que l'analyse descriptive : le groupe assimilé aux vrais billets est plus long et a une marge basse plus faible. Cela confirme la cohérence entre l'approche non supervisée et supervisée, mais la régression logistique reste préférée pour la prédiction en production.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retenu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Régression logistique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221284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minime avec le KNN (le plus performant sur ce test, 99,33%) : sur 300 billets, la différence représente 1 seul billet — un écart non significatif qui pourrait s'inverser sur un autre échantillon.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31729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Stabilité : le KNN dépend fortement de la valeur de k (ici 12, optimisée sur ce jeu précis), qui devrait être réajustée si de nouveaux billets enrichissent les données. La régression logistique n'a pas ce paramètre à surveiller.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20624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413308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Rapidité en production : la régression logistique applique une simple combinaison linéaire, quasi instantanée, alors que le KNN doit comparer chaque nouveau billet aux 1500 billets d'entraînement.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16636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166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509320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Interprétabilité : les coefficients montrent clairement le rôle de chaque mesure (en particulier la longueur), ce qui facilite les échanges avec les équipes terrain.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L'application livrée aux équipes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predict_billets.py — un script Python autonome, prêt à l'emploi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577840" cy="4389120"/>
          </a:xfrm>
          <a:prstGeom prst="roundRect">
            <a:avLst>
              <a:gd name="adj" fmla="val 2083"/>
            </a:avLst>
          </a:prstGeom>
          <a:solidFill>
            <a:srgbClr val="1B1F2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1 — Fichier de plusieurs billets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predict_billets.py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--csv billets_production.csv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30632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2 — Un seul billet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42900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predict_billets.py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--valeurs 171.81 104.86 104.95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4.52 2.89 112.83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47091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: prédiction (vrai / faux) + probabilité, pour chaque billet, et export CSV.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521208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valeurs manquantes de margin_low sont estimées automatiquement, sans intervention manuelle.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92240" y="2377440"/>
            <a:ext cx="960120" cy="105156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423160"/>
            <a:ext cx="1051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 scanné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 mesures)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470648" y="26974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799832" y="2377440"/>
            <a:ext cx="960120" cy="105156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54112" y="2423160"/>
            <a:ext cx="1051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besoin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778240" y="26974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107424" y="2377440"/>
            <a:ext cx="960120" cy="105156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61704" y="2423160"/>
            <a:ext cx="1051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085832" y="26974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415016" y="2377440"/>
            <a:ext cx="960120" cy="105156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69296" y="2423160"/>
            <a:ext cx="1051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logistique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393424" y="26974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1722608" y="2377440"/>
            <a:ext cx="960120" cy="1051560"/>
          </a:xfrm>
          <a:prstGeom prst="roundRect">
            <a:avLst>
              <a:gd name="adj" fmla="val 7619"/>
            </a:avLst>
          </a:prstGeom>
          <a:solidFill>
            <a:srgbClr val="C9A227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676888" y="2423160"/>
            <a:ext cx="1051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Vrai / Faux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probabilité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92240" y="39319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fournis avec le script : modèle final entraîné, scaler et modèle d'imputation (format .pkl).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92240" y="45262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Testé sur un échantillon de 10 billets : 10/10 prédictions correctes.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92240" y="53949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Prêt à être testé ensemble en session.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algorithme fiable, prêt pour la production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99%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6118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d'accuracy sur le jeu de test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389120" y="27432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389120" y="36118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faux billets correctement détectés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38160" y="27432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138160" y="36118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livrés : notebook, script, présentation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029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 étape : tester l'application ensemble sur le fichier billets_production.csv de l'ONCFM.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2026-07-23T15:58:46Z</dcterms:created>
  <dcterms:modified xsi:type="dcterms:W3CDTF">2026-07-23T15:58:46Z</dcterms:modified>
</cp:coreProperties>
</file>