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GoogleSlidesCustomDataVersion2">
      <go:slidesCustomData xmlns:go="http://customooxmlschemas.google.com/" r:id="rId23" roundtripDataSignature="AMtx7mgYwflJ+S42cNNYha9M8Z/9wzMS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77" orient="horz"/>
        <p:guide pos="2721"/>
        <p:guide pos="2438"/>
        <p:guide pos="416"/>
        <p:guide pos="1191"/>
        <p:guide pos="63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6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4235e8df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4235e8d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4235e8df7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d4235e8df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4235e8df7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4235e8df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f9e8f156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13f9e8f15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f9e8f1567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13f9e8f15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●"/>
            </a:pPr>
            <a:r>
              <a:rPr lang="fr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total_sales et stock_quantity ont une corrélation positive de 0,27 : les produits plus stockés semblent vendre un peu plus, mais le lien reste faible.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●"/>
            </a:pPr>
            <a:r>
              <a:rPr lang="fr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taux_marge et stock_quantity affichent une corrélation de -0,34 : cela suggère qu’à plus gros stock, la marge a tendance à baisser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235e8df7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4235e8d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4235e8df7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d4235e8df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4235e8df7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d4235e8df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0"/>
              <a:buFont typeface="Arial"/>
              <a:buNone/>
            </a:pPr>
            <a:r>
              <a:rPr lang="fr" sz="209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Optimisez la gestion des données d'une boutique avec R ou Python</a:t>
            </a:r>
            <a:endParaRPr sz="209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t/>
            </a:r>
            <a:endParaRPr sz="169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Vincent Boutillier</a:t>
            </a:r>
            <a:endParaRPr b="0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r>
              <a:rPr b="0" i="0" lang="fr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b="0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Avril 2026</a:t>
            </a:r>
            <a:endParaRPr b="0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205775" y="1664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Utilisations des </a:t>
            </a: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Datasets suivants : 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ERP (Référence prix)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Liaison (Identifiant WEB &amp; Magasin)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 (Références produits, ventes, catégories..)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</a:t>
            </a:r>
            <a:endParaRPr i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○"/>
            </a:pPr>
            <a:r>
              <a:rPr i="1" lang="f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 du Chiffre d’affaire par produit</a:t>
            </a:r>
            <a:endParaRPr i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○"/>
            </a:pPr>
            <a:r>
              <a:rPr i="1" lang="f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 du Chiffre d’affaire total</a:t>
            </a:r>
            <a:endParaRPr i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Remarques éventuelles, pièges ou difficultés rencontrées 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Analyses Exploratoires des Données </a:t>
            </a:r>
            <a:endParaRPr b="0" i="0" sz="2500" u="none" cap="none" strike="noStrik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4235e8df7_0_0"/>
          <p:cNvSpPr txBox="1"/>
          <p:nvPr>
            <p:ph idx="1" type="body"/>
          </p:nvPr>
        </p:nvSpPr>
        <p:spPr>
          <a:xfrm>
            <a:off x="205775" y="1664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 	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8094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4"/>
              <a:buFont typeface="Montserrat"/>
              <a:buChar char="○"/>
            </a:pPr>
            <a:r>
              <a:rPr i="1" lang="fr" sz="172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Nettoyage de données </a:t>
            </a:r>
            <a:endParaRPr i="1" sz="172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28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92"/>
              <a:buFont typeface="Montserrat"/>
              <a:buChar char="■"/>
            </a:pPr>
            <a:r>
              <a:rPr b="1" i="1" lang="fr" sz="159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ERP </a:t>
            </a:r>
            <a:r>
              <a:rPr i="1" lang="fr" sz="159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Attention mise sur valeurs négatives et Id produits non-conformes</a:t>
            </a:r>
            <a:endParaRPr i="1" sz="159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968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2"/>
              <a:buFont typeface="Montserrat"/>
              <a:buChar char="■"/>
            </a:pPr>
            <a:r>
              <a:rPr b="1" i="1" lang="fr" sz="159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Liaison </a:t>
            </a:r>
            <a:r>
              <a:rPr i="1" lang="fr" sz="159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Id_web différents de product_id</a:t>
            </a:r>
            <a:endParaRPr i="1" sz="159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968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2"/>
              <a:buFont typeface="Montserrat"/>
              <a:buChar char="■"/>
            </a:pPr>
            <a:r>
              <a:rPr b="1" i="1" lang="fr" sz="159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 </a:t>
            </a:r>
            <a:r>
              <a:rPr i="1" lang="fr" sz="159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Suppression des colonnes non-pertinentes pour l’analyse</a:t>
            </a:r>
            <a:endParaRPr i="1" sz="159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RGPD : Aucun impact car pas de présence de données sensibles dans les dataset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g3d4235e8df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d4235e8df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Analyses Exploratoires des Données </a:t>
            </a:r>
            <a:endParaRPr b="0" i="0" sz="2500" u="none" cap="none" strike="noStrik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g3d4235e8df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idx="1" type="body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Nous avons choisis d’utiliser la clé : product_id (SKU)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Fusion des données ERP et Liaison.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Suppression de colonnes superflues du dataset WEB.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 Final regroupant les caractéristiques principales (entre autres)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product_id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price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stock_status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post_title (produit)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Vigilances et difficultés : 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Nettoyage des données car présence de valeurs négatives 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16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■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Stock &amp; Prix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Correspondance entre dataset avec valeurs manquantes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b="0" i="0" sz="2500" u="none" cap="none" strike="noStrik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idx="1" type="body"/>
          </p:nvPr>
        </p:nvSpPr>
        <p:spPr>
          <a:xfrm>
            <a:off x="0" y="1558650"/>
            <a:ext cx="3113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Répartition des prix dans le graphique ci-joint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Moyenne prix à 32,5€ 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Mediane prix à 25,3€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Nombreux outliers “Premium”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b="0" i="0" sz="2500" u="none" cap="none" strike="noStrik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8678" y="1542600"/>
            <a:ext cx="5790434" cy="344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81818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81818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CA, quantités, stocks, taux de marge et correlations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7" title="Vente article en C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75" y="1444050"/>
            <a:ext cx="7968925" cy="364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4235e8df7_0_1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d4235e8df7_0_1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81818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81818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CA, quantités, stocks, taux de marge et correlations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d4235e8df7_0_1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3d4235e8df7_0_15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525" y="1390200"/>
            <a:ext cx="7572700" cy="37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4235e8df7_0_8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d4235e8df7_0_8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81818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81818"/>
              <a:buFont typeface="Arial"/>
              <a:buNone/>
            </a:pPr>
            <a:r>
              <a:rPr b="0" i="0" lang="fr" sz="25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CA, quantités, stocks, taux de marge et correlations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4235e8df7_0_8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d4235e8df7_0_8" title="newplot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00" y="1390200"/>
            <a:ext cx="8700599" cy="37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Taux de marge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13f9e8f1567_0_0" title="newplot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850" y="1542600"/>
            <a:ext cx="6695749" cy="32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13f9e8f1567_0_0"/>
          <p:cNvSpPr txBox="1"/>
          <p:nvPr>
            <p:ph idx="1" type="body"/>
          </p:nvPr>
        </p:nvSpPr>
        <p:spPr>
          <a:xfrm>
            <a:off x="78825" y="1528600"/>
            <a:ext cx="242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i="1"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Taux de marge moyen assez élevé dans chaque catégorie de produit</a:t>
            </a:r>
            <a:endParaRPr i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i="1"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Huile d’olive à 60%</a:t>
            </a:r>
            <a:endParaRPr i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i="1"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Vin à 93%</a:t>
            </a:r>
            <a:endParaRPr i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i="1"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Alcools forts entre 109 et 118%</a:t>
            </a:r>
            <a:endParaRPr b="1" i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complémentaires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13f9e8f1567_0_7"/>
          <p:cNvSpPr txBox="1"/>
          <p:nvPr>
            <p:ph idx="1" type="body"/>
          </p:nvPr>
        </p:nvSpPr>
        <p:spPr>
          <a:xfrm>
            <a:off x="557275" y="1528600"/>
            <a:ext cx="2921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Très grande correlation positive entre le price et le purchase_price (0,96)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Correlation faible et modérées :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0,27 : Stock et total_sales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-0,34 Stock et Taux de marge (plus de stock implique marge plus faible)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g13f9e8f1567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3575" y="1528600"/>
            <a:ext cx="4579374" cy="34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235e8df7_0_29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d4235e8df7_0_29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d4235e8df7_0_29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d4235e8df7_0_29"/>
          <p:cNvSpPr txBox="1"/>
          <p:nvPr>
            <p:ph idx="1" type="body"/>
          </p:nvPr>
        </p:nvSpPr>
        <p:spPr>
          <a:xfrm>
            <a:off x="143100" y="1611225"/>
            <a:ext cx="2921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set WEB 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Compléter les données et/ou supprimer les colonnes vides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Uniformiser les code produits et/ou par catégorie de produits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g3d4235e8df7_0_29"/>
          <p:cNvSpPr txBox="1"/>
          <p:nvPr>
            <p:ph idx="1" type="body"/>
          </p:nvPr>
        </p:nvSpPr>
        <p:spPr>
          <a:xfrm>
            <a:off x="6178350" y="1611225"/>
            <a:ext cx="2921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 Liaison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Uniformiser les ID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 pas répertorier de bon cadeaux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g3d4235e8df7_0_29"/>
          <p:cNvSpPr txBox="1"/>
          <p:nvPr>
            <p:ph idx="1" type="body"/>
          </p:nvPr>
        </p:nvSpPr>
        <p:spPr>
          <a:xfrm>
            <a:off x="3111450" y="1611225"/>
            <a:ext cx="2921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 ERP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Revoir les stocks de chaque produit pour éviter les stock négatif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Revoir les stocks produits pour éviter les “instock” quand le produit est en quantité négative.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Informer les équipes pour vérifier les références présentes dans le dataset d’octobre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235e8df7_0_39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d4235e8df7_0_39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d4235e8df7_0_39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d4235e8df7_0_39"/>
          <p:cNvSpPr txBox="1"/>
          <p:nvPr>
            <p:ph idx="1" type="body"/>
          </p:nvPr>
        </p:nvSpPr>
        <p:spPr>
          <a:xfrm>
            <a:off x="56700" y="2202425"/>
            <a:ext cx="9030600" cy="20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Faire une focalisation sur les articles qui sont en dehors du 80% du CA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Pourquoi sont-ils dans cette tranche et comment améliorer leur CA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Focalisation sur les articles les plus vendu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Pourquoi sont-ils mieux vendus que d’autres ?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○"/>
            </a:pPr>
            <a:r>
              <a:rPr i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Identifier et copier aux produits moins performants (si réalisable)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235e8df7_0_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d4235e8df7_0_48"/>
          <p:cNvSpPr txBox="1"/>
          <p:nvPr/>
        </p:nvSpPr>
        <p:spPr>
          <a:xfrm>
            <a:off x="652150" y="1851250"/>
            <a:ext cx="79833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0"/>
              <a:buFont typeface="Arial"/>
              <a:buNone/>
            </a:pPr>
            <a:r>
              <a:rPr lang="fr" sz="209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Optimisez la gestion des données d'une boutique avec R ou Python</a:t>
            </a:r>
            <a:endParaRPr sz="209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t/>
            </a:r>
            <a:endParaRPr sz="169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d4235e8df7_0_48"/>
          <p:cNvSpPr txBox="1"/>
          <p:nvPr/>
        </p:nvSpPr>
        <p:spPr>
          <a:xfrm>
            <a:off x="4968964" y="3582148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Vincent Boutillier</a:t>
            </a:r>
            <a:endParaRPr b="0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d4235e8df7_0_48"/>
          <p:cNvSpPr txBox="1"/>
          <p:nvPr/>
        </p:nvSpPr>
        <p:spPr>
          <a:xfrm>
            <a:off x="4968964" y="3975103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r>
              <a:rPr b="0" i="0" lang="fr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b="0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d4235e8df7_0_48"/>
          <p:cNvSpPr txBox="1"/>
          <p:nvPr/>
        </p:nvSpPr>
        <p:spPr>
          <a:xfrm>
            <a:off x="4968964" y="4368058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Avril 2026</a:t>
            </a:r>
            <a:endParaRPr b="0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