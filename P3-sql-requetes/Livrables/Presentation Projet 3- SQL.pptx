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cc4fa8e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cc4fa8e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cc4fa8ec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cc4fa8ec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cc4fa8ec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cc4fa8ec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cc4fa8ec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cc4fa8ec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cc4fa8ec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cc4fa8ec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cc4fa8ec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cc4fa8ec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cc4fa8ec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cc4fa8ec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cc4fa8ec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cc4fa8ec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42871" y="204400"/>
            <a:ext cx="8336700" cy="7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Exercice 1 : Dictionnaire de données</a:t>
            </a:r>
            <a:endParaRPr sz="2500"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8300"/>
            <a:ext cx="6755125" cy="34200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7078975" y="1310650"/>
            <a:ext cx="1781100" cy="3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INT : Entier sans décimal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VARCHAR : </a:t>
            </a:r>
            <a:r>
              <a:rPr lang="fr" sz="1300">
                <a:solidFill>
                  <a:schemeClr val="dk2"/>
                </a:solidFill>
              </a:rPr>
              <a:t>Chaîne</a:t>
            </a:r>
            <a:r>
              <a:rPr lang="fr" sz="1300">
                <a:solidFill>
                  <a:schemeClr val="dk2"/>
                </a:solidFill>
              </a:rPr>
              <a:t> de caractères à variable longue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CHAR : Chaine de caractère sans variable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DECIMAL : Pour la valeur des biens financiers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297896" y="216125"/>
            <a:ext cx="8548200" cy="6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Exercice 2 :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Construction du schéma relationnel :</a:t>
            </a:r>
            <a:endParaRPr sz="2500"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0" y="862025"/>
            <a:ext cx="2997075" cy="31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234600" y="3985900"/>
            <a:ext cx="45210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fr">
                <a:solidFill>
                  <a:schemeClr val="dk2"/>
                </a:solidFill>
              </a:rPr>
              <a:t>Schéma normalisé : One to Many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761900" y="4126525"/>
            <a:ext cx="4084200" cy="9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fr">
                <a:solidFill>
                  <a:schemeClr val="dk2"/>
                </a:solidFill>
              </a:rPr>
              <a:t>Code SQL pour création des tables dans SQLite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fr">
                <a:solidFill>
                  <a:schemeClr val="dk2"/>
                </a:solidFill>
              </a:rPr>
              <a:t>Primary Key et Foreign Key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0" name="Google Shape;70;p15" title="UML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14425"/>
            <a:ext cx="5312134" cy="28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21450" y="310075"/>
            <a:ext cx="8501100" cy="96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Exercice 3.1 &amp; 3.2 :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Création de la BDD sur SQLite Studio</a:t>
            </a:r>
            <a:endParaRPr sz="25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5475"/>
            <a:ext cx="2398200" cy="35656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572000" y="1543925"/>
            <a:ext cx="39126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Table Contrat : 30335 Lignes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Table Region : 38916 Lignes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Vérification des colonnes avec les fichiers excel Region &amp; Contrat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725" y="3060725"/>
            <a:ext cx="214312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ctrTitle"/>
          </p:nvPr>
        </p:nvSpPr>
        <p:spPr>
          <a:xfrm>
            <a:off x="408546" y="156500"/>
            <a:ext cx="8407200" cy="58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Exercice 4.1 :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Trame et première requête sur la BDD</a:t>
            </a:r>
            <a:endParaRPr sz="250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00" y="664075"/>
            <a:ext cx="3463325" cy="350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9200" y="664075"/>
            <a:ext cx="3047341" cy="35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8942" y="664075"/>
            <a:ext cx="1763827" cy="350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2006050" y="4421250"/>
            <a:ext cx="5723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fr">
                <a:solidFill>
                  <a:schemeClr val="dk2"/>
                </a:solidFill>
              </a:rPr>
              <a:t>Utilisaton du </a:t>
            </a:r>
            <a:r>
              <a:rPr b="1" lang="fr">
                <a:solidFill>
                  <a:schemeClr val="dk2"/>
                </a:solidFill>
              </a:rPr>
              <a:t>WHERE </a:t>
            </a:r>
            <a:r>
              <a:rPr lang="fr">
                <a:solidFill>
                  <a:schemeClr val="dk2"/>
                </a:solidFill>
              </a:rPr>
              <a:t>pour lister les numéros de contrat en fonction du nom de la commune et de leurs formules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368396" y="133925"/>
            <a:ext cx="8407200" cy="58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Exercice 5 :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Suite des requêtes sur la BDD</a:t>
            </a:r>
            <a:endParaRPr sz="2500"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925" y="1137000"/>
            <a:ext cx="1824550" cy="30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405675" y="596800"/>
            <a:ext cx="149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Requête 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896013" y="643700"/>
            <a:ext cx="149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Requête 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6400463" y="596800"/>
            <a:ext cx="149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Requête 6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1775" y="1090100"/>
            <a:ext cx="2875576" cy="306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7625" y="1227825"/>
            <a:ext cx="3076975" cy="27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198825" y="4396425"/>
            <a:ext cx="20640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fr" sz="1200">
                <a:solidFill>
                  <a:schemeClr val="dk2"/>
                </a:solidFill>
              </a:rPr>
              <a:t>Order by </a:t>
            </a:r>
            <a:r>
              <a:rPr b="1" lang="fr" sz="1200">
                <a:solidFill>
                  <a:schemeClr val="dk2"/>
                </a:solidFill>
              </a:rPr>
              <a:t>DESC </a:t>
            </a:r>
            <a:r>
              <a:rPr lang="fr" sz="1200">
                <a:solidFill>
                  <a:schemeClr val="dk2"/>
                </a:solidFill>
              </a:rPr>
              <a:t> pour le triage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2486450" y="4275500"/>
            <a:ext cx="27810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fr" sz="1200">
                <a:solidFill>
                  <a:schemeClr val="dk2"/>
                </a:solidFill>
              </a:rPr>
              <a:t>AVG </a:t>
            </a:r>
            <a:r>
              <a:rPr lang="fr" sz="1200">
                <a:solidFill>
                  <a:schemeClr val="dk2"/>
                </a:solidFill>
              </a:rPr>
              <a:t>pour calculer la moyenne d’une colonne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5795825" y="4070075"/>
            <a:ext cx="30771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fr" sz="1200">
                <a:solidFill>
                  <a:schemeClr val="dk2"/>
                </a:solidFill>
              </a:rPr>
              <a:t>GROUP BY </a:t>
            </a:r>
            <a:r>
              <a:rPr lang="fr" sz="1200">
                <a:solidFill>
                  <a:schemeClr val="dk2"/>
                </a:solidFill>
              </a:rPr>
              <a:t>et </a:t>
            </a:r>
            <a:r>
              <a:rPr b="1" lang="fr" sz="1200">
                <a:solidFill>
                  <a:schemeClr val="dk2"/>
                </a:solidFill>
              </a:rPr>
              <a:t>ORDER BY </a:t>
            </a:r>
            <a:r>
              <a:rPr lang="fr" sz="1200">
                <a:solidFill>
                  <a:schemeClr val="dk2"/>
                </a:solidFill>
              </a:rPr>
              <a:t>pour ordonner et trier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fr" sz="1200">
                <a:solidFill>
                  <a:schemeClr val="dk2"/>
                </a:solidFill>
              </a:rPr>
              <a:t>WHEN </a:t>
            </a:r>
            <a:r>
              <a:rPr lang="fr" sz="1200">
                <a:solidFill>
                  <a:schemeClr val="dk2"/>
                </a:solidFill>
              </a:rPr>
              <a:t>pour chaque tranche de valeur </a:t>
            </a:r>
            <a:r>
              <a:rPr lang="fr" sz="1200">
                <a:solidFill>
                  <a:schemeClr val="dk2"/>
                </a:solidFill>
              </a:rPr>
              <a:t>déclarée</a:t>
            </a:r>
            <a:r>
              <a:rPr lang="fr" sz="1200">
                <a:solidFill>
                  <a:schemeClr val="dk2"/>
                </a:solidFill>
              </a:rPr>
              <a:t> de biens + </a:t>
            </a:r>
            <a:r>
              <a:rPr b="1" lang="fr" sz="1200">
                <a:solidFill>
                  <a:schemeClr val="dk2"/>
                </a:solidFill>
              </a:rPr>
              <a:t>ELSE </a:t>
            </a:r>
            <a:r>
              <a:rPr lang="fr" sz="1200">
                <a:solidFill>
                  <a:schemeClr val="dk2"/>
                </a:solidFill>
              </a:rPr>
              <a:t>pour vérifier les “oubli”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ctrTitle"/>
          </p:nvPr>
        </p:nvSpPr>
        <p:spPr>
          <a:xfrm>
            <a:off x="368396" y="221850"/>
            <a:ext cx="8407200" cy="58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Exercice 5 :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Suite des requêtes sur la BDD</a:t>
            </a:r>
            <a:endParaRPr sz="2500"/>
          </a:p>
        </p:txBody>
      </p:sp>
      <p:sp>
        <p:nvSpPr>
          <p:cNvPr id="107" name="Google Shape;107;p19"/>
          <p:cNvSpPr txBox="1"/>
          <p:nvPr/>
        </p:nvSpPr>
        <p:spPr>
          <a:xfrm>
            <a:off x="331150" y="721025"/>
            <a:ext cx="149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Requête 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4483938" y="808950"/>
            <a:ext cx="149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Requête 8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7441538" y="721025"/>
            <a:ext cx="149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Requête 9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6725"/>
            <a:ext cx="3807400" cy="362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0825" y="1343275"/>
            <a:ext cx="2889075" cy="367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9900" y="1053356"/>
            <a:ext cx="2301650" cy="402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ctrTitle"/>
          </p:nvPr>
        </p:nvSpPr>
        <p:spPr>
          <a:xfrm>
            <a:off x="368396" y="133925"/>
            <a:ext cx="8407200" cy="58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Exercice 5 :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Suite des requêtes sur la BDD</a:t>
            </a:r>
            <a:endParaRPr sz="2500"/>
          </a:p>
        </p:txBody>
      </p:sp>
      <p:sp>
        <p:nvSpPr>
          <p:cNvPr id="118" name="Google Shape;118;p20"/>
          <p:cNvSpPr txBox="1"/>
          <p:nvPr/>
        </p:nvSpPr>
        <p:spPr>
          <a:xfrm>
            <a:off x="331150" y="721025"/>
            <a:ext cx="149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Requête 10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4512513" y="721025"/>
            <a:ext cx="149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Requête 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7441538" y="721025"/>
            <a:ext cx="149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Requête 12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9825"/>
            <a:ext cx="3173725" cy="367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8525" y="1319825"/>
            <a:ext cx="2914801" cy="367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5726" y="1319825"/>
            <a:ext cx="2445874" cy="2600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