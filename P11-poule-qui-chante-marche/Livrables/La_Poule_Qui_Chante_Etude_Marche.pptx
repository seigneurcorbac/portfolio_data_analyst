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image" Target="../media/image-6-1.png"/><Relationship Id="rId10" Type="http://schemas.openxmlformats.org/officeDocument/2006/relationships/image" Target="../media/image-6-1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 INTERNATIONAL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Poule Qui Chante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marchés export prioritaires pour le poulet biologique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8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468310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de données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B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· Banque Mondiale · Heritage · FiBL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4617720"/>
            <a:ext cx="502920" cy="502920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12" name="Image 1" descr="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780" y="468310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+ Clustering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B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 &amp; K-Means sur 137 pays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4617720"/>
            <a:ext cx="502920" cy="502920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16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220" y="46831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marchés prioritaires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0392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B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finale argumentée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Boutillier  ·  Notebooks 1 &amp; 2  ·  Soutenance P11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→ Démarche → Résultats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5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765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Contexte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984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La Poule Qui Chante et quelle question business on résout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9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2661453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51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Préparation des données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sources, nettoyage, 11 variables retenues sur 137 pays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13" name="Image 2" descr="icons/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557565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Analyse (ACP)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7764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complexité : 11 variables → 4 axes de lecture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17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453677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Clustering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672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pays par profil : CAH puis K-Means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21" name="Image 4" descr="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5349789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239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Recommandations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5686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cible et les 4 pays prioritaires à l'export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étude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est une entreprise française spécialisée dans la production de poulets issus de l'agriculture biologique.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posée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quels pays orienter en priorité une stratégie d'exportation, parmi plus d'une centaine de marchés possibles dans le monde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des données économiques, démographiques et agricoles internationales pour faire émerger objectivement des profils de pays — plutôt que de choisir au hasard ou à l'intuition.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B8472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analysés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7260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retenues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D9A44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3796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B8472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37260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prioritaires identifiés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un jeu de données fiable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grandes sources internationales ont été combinées pour décrire chaque pays sous plusieurs angles : économique, démographique, commercial et agricole.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50008"/>
            <a:ext cx="502920" cy="502920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7" name="Image 0" descr="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88" y="2415388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production, import/export et disponibilité alimentaire de volaille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2350008"/>
            <a:ext cx="502920" cy="502920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12" name="Image 1" descr="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60" y="241538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93592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habitant, urbanisation, qualité de la gouvernance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35000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7" name="Image 2" descr="icons/p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332" y="2415388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Foundation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55664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liberté du commerce extérieur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36024" y="2350008"/>
            <a:ext cx="502920" cy="502920"/>
          </a:xfrm>
          <a:prstGeom prst="ellipse">
            <a:avLst/>
          </a:prstGeom>
          <a:solidFill>
            <a:srgbClr val="7A2F1F"/>
          </a:solidFill>
          <a:ln/>
        </p:spPr>
      </p:sp>
      <p:pic>
        <p:nvPicPr>
          <p:cNvPr id="22" name="Image 3" descr="icons/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404" y="2415388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17736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l'agriculture biologique dans chaque pays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E9DD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27" name="Image 4" descr="icons/bro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4506163"/>
            <a:ext cx="405994" cy="40599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fiabilisation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600200" y="482803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formats (virgules, espaces, doublons de pays)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de volaille manquants → imputés à 0 (hypothèse : pays non-exportateur)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restant incomplets après ces corrections → exclus de l'analyse finale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variables, choisies et enrichies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volumes bruts (production, import, export) ne sont pas comparables entre un petit et un grand pays. 4 variables ont donc été créées pour ramener ces volumes à une base commune.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860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démographique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→ 2017, en 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22860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volaille / million d'hab.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75304" y="29260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l'effet taille du pays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2784" y="21488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22860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volaille / million d'hab.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37376" y="29260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pays non-exportateur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34856" y="21488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99448" y="22860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volaille / million d'hab.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99448" y="29260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dépendance aux imports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56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Feature engineering — 4 nouvelles variables créées (≥ 3 requis)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11 variables retenues pour l'analyse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11064240" cy="475488"/>
          </a:xfrm>
          <a:prstGeom prst="rect">
            <a:avLst/>
          </a:prstGeom>
          <a:solidFill>
            <a:srgbClr val="FB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Démographie &amp; économie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croissance démographique, PIB/habitant, urbanisation, gouvernance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ouverture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0" y="4846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Liberté du commerce extérieur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66944"/>
            <a:ext cx="11064240" cy="475488"/>
          </a:xfrm>
          <a:prstGeom prst="rect">
            <a:avLst/>
          </a:prstGeom>
          <a:solidFill>
            <a:srgbClr val="FBF4E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21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biologique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0" y="5321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l'agriculture bio dans le pays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742432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97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la volaille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0" y="57972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alimentaire, production, export, import (par million d'hab.)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jeu de données validé et compris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robustesse respectés</a:t>
            </a:r>
            <a:endParaRPr lang="en-US" sz="1400" dirty="0"/>
          </a:p>
        </p:txBody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240280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951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185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pays analysés (≥ 100 requis)</a:t>
            </a:r>
            <a:endParaRPr lang="en-US" sz="1250" dirty="0"/>
          </a:p>
        </p:txBody>
      </p:sp>
      <p:pic>
        <p:nvPicPr>
          <p:cNvPr id="10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07208"/>
            <a:ext cx="292608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2960" y="2807208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86207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27523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variables (≥ 8 requises)</a:t>
            </a:r>
            <a:endParaRPr lang="en-US" sz="1250" dirty="0"/>
          </a:p>
        </p:txBody>
      </p:sp>
      <p:pic>
        <p:nvPicPr>
          <p:cNvPr id="14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74136"/>
            <a:ext cx="292608" cy="29260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22960" y="3374136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16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42900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61872" y="3319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valeur manquante dans le jeu final</a:t>
            </a:r>
            <a:endParaRPr lang="en-US" sz="1250" dirty="0"/>
          </a:p>
        </p:txBody>
      </p:sp>
      <p:pic>
        <p:nvPicPr>
          <p:cNvPr id="18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941064"/>
            <a:ext cx="292608" cy="292608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22960" y="3941064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20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3995928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261872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nouvelles variables créées (≥ 3 requises)</a:t>
            </a:r>
            <a:endParaRPr lang="en-US" sz="1250" dirty="0"/>
          </a:p>
        </p:txBody>
      </p:sp>
      <p:pic>
        <p:nvPicPr>
          <p:cNvPr id="22" name="Image 8" descr="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507992"/>
            <a:ext cx="292608" cy="292608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822960" y="4507992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24" name="Image 9" descr="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" y="456285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261872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variable justifiée par son lien avec la question business</a:t>
            </a:r>
            <a:endParaRPr lang="en-US" sz="1250" dirty="0"/>
          </a:p>
        </p:txBody>
      </p:sp>
      <p:sp>
        <p:nvSpPr>
          <p:cNvPr id="26" name="Shape 14"/>
          <p:cNvSpPr/>
          <p:nvPr/>
        </p:nvSpPr>
        <p:spPr>
          <a:xfrm>
            <a:off x="5806440" y="1554480"/>
            <a:ext cx="58064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15"/>
          <p:cNvSpPr/>
          <p:nvPr/>
        </p:nvSpPr>
        <p:spPr>
          <a:xfrm>
            <a:off x="6080760" y="17830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8" name="Image 10" descr="icons/warn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0196" y="1842516"/>
            <a:ext cx="338328" cy="33832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675120" y="1810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valeurs extrêmes (outliers) ?</a:t>
            </a:r>
            <a:endParaRPr lang="en-US" sz="1400" dirty="0"/>
          </a:p>
        </p:txBody>
      </p:sp>
      <p:sp>
        <p:nvSpPr>
          <p:cNvPr id="30" name="Text 17"/>
          <p:cNvSpPr/>
          <p:nvPr/>
        </p:nvSpPr>
        <p:spPr>
          <a:xfrm>
            <a:off x="6080760" y="2331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pays affichent un PIB par habitant très supérieur à la moyenne (pays pétroliers, places financières). Plutôt que de les supprimer, nous avons choisi de les conserver :</a:t>
            </a:r>
            <a:endParaRPr lang="en-US" sz="1250" dirty="0"/>
          </a:p>
        </p:txBody>
      </p:sp>
      <p:sp>
        <p:nvSpPr>
          <p:cNvPr id="31" name="Text 18"/>
          <p:cNvSpPr/>
          <p:nvPr/>
        </p:nvSpPr>
        <p:spPr>
          <a:xfrm>
            <a:off x="6080760" y="320040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reflètent une réalité économique réelle, pas une erreur de saisie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potentiellement des marchés à fort pouvoir d'achat, donc pertinents pour l'export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supprimer aurait biaisé l'analyse vers les pays "moyens" uniquement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6080760" y="47548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4E9DD"/>
          </a:solidFill>
          <a:ln/>
        </p:spPr>
      </p:sp>
      <p:sp>
        <p:nvSpPr>
          <p:cNvPr id="33" name="Text 20"/>
          <p:cNvSpPr/>
          <p:nvPr/>
        </p:nvSpPr>
        <p:spPr>
          <a:xfrm>
            <a:off x="6263640" y="48646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méthodologique : conserver les outliers et documenter leur origine, plutôt que les exclure par défaut.</a:t>
            </a:r>
            <a:endParaRPr lang="en-US" sz="1150" dirty="0"/>
          </a:p>
        </p:txBody>
      </p:sp>
      <p:sp>
        <p:nvSpPr>
          <p:cNvPr id="3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ANALYSE MULTIVARIÉE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variables se répètent-elles entre elles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réduire la dimension, on vérifie si certaines variables apportent la même information (forte corrélation). Si c'est le cas, on peut en retirer une sans perte.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64592" cy="164592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4144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urbanisation, gouvernance et liberté du commerce évoluent ensemble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64592" cy="164592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9981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paire ne dépasse le seuil critique de 0,85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5818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11 variables apportent chacune une information distincte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BF4E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365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heatmap : rouge = lien fort, bleu = lien inverse, blanc/clair = pas de lien. On scanne les cases les plus foncées hors diagonale.</a:t>
            </a:r>
            <a:endParaRPr lang="en-US" sz="1150" dirty="0"/>
          </a:p>
        </p:txBody>
      </p:sp>
      <p:pic>
        <p:nvPicPr>
          <p:cNvPr id="14" name="Image 0" descr="../check/imgs/NB1_03_cell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8135" y="1366657"/>
            <a:ext cx="5120640" cy="43990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RÉDUCTION DE DIMENSION (ACP)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Résumer 11 variables en quelques axes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L'ACP (Analyse en Composantes Principales) combine les 11 variables d'origine en quelques axes synthétiques, classés par quantité d'information qu'ils résument.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B8472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243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47088" y="251460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6B7A4F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26243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47088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251460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26243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45536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2514600"/>
            <a:ext cx="1188720" cy="1051560"/>
          </a:xfrm>
          <a:prstGeom prst="roundRect">
            <a:avLst>
              <a:gd name="adj" fmla="val 6957"/>
            </a:avLst>
          </a:prstGeom>
          <a:solidFill>
            <a:srgbClr val="7A2F1F"/>
          </a:solidFill>
          <a:ln/>
        </p:spPr>
      </p:sp>
      <p:sp>
        <p:nvSpPr>
          <p:cNvPr id="15" name="Text 13"/>
          <p:cNvSpPr/>
          <p:nvPr/>
        </p:nvSpPr>
        <p:spPr>
          <a:xfrm>
            <a:off x="4443984" y="26243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43984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E9D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</a:t>
            </a:r>
            <a:pPr indent="0" marL="0">
              <a:buNone/>
            </a:pPr>
            <a:r>
              <a:rPr lang="en-US" sz="1300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l'information conservée avec 4 axes seulement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B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respecté : variance expliquée &gt; 60 % avec les dimensions retenues.</a:t>
            </a:r>
            <a:endParaRPr lang="en-US" sz="1150" dirty="0"/>
          </a:p>
        </p:txBody>
      </p:sp>
      <p:pic>
        <p:nvPicPr>
          <p:cNvPr id="20" name="Image 0" descr="../check/imgs/NB2_01_cell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815" y="1310170"/>
            <a:ext cx="5394960" cy="44205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RÉDUCTION DE DIMENSION (ACP)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représentent ces axes ?</a:t>
            </a:r>
            <a:endParaRPr lang="en-US" sz="3000" dirty="0"/>
          </a:p>
        </p:txBody>
      </p:sp>
      <p:pic>
        <p:nvPicPr>
          <p:cNvPr id="4" name="Image 0" descr="../check/imgs/NB2_03_cell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4297680" cy="3922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476995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 des corrélations (F1 – F2)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74920" y="1554480"/>
            <a:ext cx="201168" cy="201168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4904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Développement économique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94960" y="183794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urbanisation, gouvernance, liberté du commerce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74920" y="2606040"/>
            <a:ext cx="201168" cy="20116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25420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Production vs Import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94960" y="28895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 les pays producteurs aux pays dépendants des imports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74920" y="365760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35935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— Dynamique démographique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94960" y="394106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 par la croissance de la population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4709160"/>
            <a:ext cx="201168" cy="201168"/>
          </a:xfrm>
          <a:prstGeom prst="ellipse">
            <a:avLst/>
          </a:prstGeom>
          <a:solidFill>
            <a:srgbClr val="7A2F1F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46451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Spécialisation export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94960" y="49926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 par l'export de volaille par habitant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74920" y="5760720"/>
            <a:ext cx="6537960" cy="777240"/>
          </a:xfrm>
          <a:prstGeom prst="roundRect">
            <a:avLst>
              <a:gd name="adj" fmla="val 9412"/>
            </a:avLst>
          </a:prstGeom>
          <a:solidFill>
            <a:srgbClr val="FBF4EC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0" y="58795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deux flèches dans le même sens = variables liées ; perpendiculaires = indépendantes.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RÉDUCTION DE DIMENSION (ACP)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se situent les pays sur cette carte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pays est projeté sur les deux premiers axes. Deux pays proches sur ce plan ont un profil économique et commercial similaire.</a:t>
            </a:r>
            <a:endParaRPr lang="en-US" sz="1300" dirty="0"/>
          </a:p>
        </p:txBody>
      </p:sp>
      <p:pic>
        <p:nvPicPr>
          <p:cNvPr id="5" name="Image 0" descr="../check/imgs/NB2_05_cell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160520" cy="33114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4920" y="2011680"/>
            <a:ext cx="201168" cy="201168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929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Droite (F1+)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4960" y="2240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développés, urbanisés, bonne gouvernance — ex. Pays-Bas, Suisse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74920" y="2880360"/>
            <a:ext cx="201168" cy="20116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2798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Gauche (F1-)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94960" y="31089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moins développés, plus ruraux — ex. Niger, Éthiopie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74920" y="37490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3666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(F2+)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394960" y="3977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dépendance aux imports de volaille — ex. Émirats, Samoa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4617720"/>
            <a:ext cx="201168" cy="201168"/>
          </a:xfrm>
          <a:prstGeom prst="ellipse">
            <a:avLst/>
          </a:prstGeom>
          <a:solidFill>
            <a:srgbClr val="7A2F1F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4535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(F2-)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394960" y="48463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producteurs de volaille — ex. Brésil, États-Unis, Argentine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74920" y="5532120"/>
            <a:ext cx="6537960" cy="777240"/>
          </a:xfrm>
          <a:prstGeom prst="roundRect">
            <a:avLst>
              <a:gd name="adj" fmla="val 9412"/>
            </a:avLst>
          </a:prstGeom>
          <a:solidFill>
            <a:srgbClr val="F4E9DD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0" y="56418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structure suggère l'existence de groupes de pays distincts → on passe au clustering.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de groupes de pays distinguer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méthodes complémentaires confirment le même nombre de groupes optimal.</a:t>
            </a:r>
            <a:endParaRPr lang="en-US" sz="1300" dirty="0"/>
          </a:p>
        </p:txBody>
      </p:sp>
      <p:pic>
        <p:nvPicPr>
          <p:cNvPr id="5" name="Image 0" descr="../check/imgs/NB2_07_cell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4114800" cy="25321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9814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du coude</a:t>
            </a:r>
            <a:endParaRPr lang="en-US" sz="1100" dirty="0"/>
          </a:p>
        </p:txBody>
      </p:sp>
      <p:pic>
        <p:nvPicPr>
          <p:cNvPr id="7" name="Image 1" descr="../check/imgs/NB2_08_cell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4114800" cy="25321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449814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9326880" y="1920240"/>
            <a:ext cx="2331720" cy="3657600"/>
          </a:xfrm>
          <a:prstGeom prst="roundRect">
            <a:avLst>
              <a:gd name="adj" fmla="val 3922"/>
            </a:avLst>
          </a:prstGeom>
          <a:solidFill>
            <a:srgbClr val="B8472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32688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326880" y="2697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12" name="Text 8"/>
          <p:cNvSpPr/>
          <p:nvPr/>
        </p:nvSpPr>
        <p:spPr>
          <a:xfrm>
            <a:off x="950976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pays retenus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646920" y="4572000"/>
            <a:ext cx="1691640" cy="0"/>
          </a:xfrm>
          <a:prstGeom prst="line">
            <a:avLst/>
          </a:prstGeom>
          <a:noFill/>
          <a:ln w="12700">
            <a:solidFill>
              <a:srgbClr val="F0DCC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55480" y="4709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coude se marque à k=4 ; la silhouette y atteint aussi son maximum (~0,32).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 : une première vue de la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Classification Ascendante Hiérarchique (CAH) regroupe progressivement les pays les plus proches, sans fixer k à l'avance. Le dendrogramme visualise cette construction.</a:t>
            </a:r>
            <a:endParaRPr lang="en-US" sz="1300" dirty="0"/>
          </a:p>
        </p:txBody>
      </p:sp>
      <p:pic>
        <p:nvPicPr>
          <p:cNvPr id="5" name="Image 0" descr="../check/imgs/NB2_09_cell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8595360" cy="36147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BF4E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5321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rupture nette apparaît entre les hauteurs de fusion 13–15 puis 25, confirmant l'existence de 4 groupes bien distincts.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326880" y="1965960"/>
            <a:ext cx="2331720" cy="4343400"/>
          </a:xfrm>
          <a:prstGeom prst="roundRect">
            <a:avLst>
              <a:gd name="adj" fmla="val 3922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CAH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0976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56132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pays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509760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561320" y="2990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pays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3741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561320" y="33741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pays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509760" y="3758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561320" y="37581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pays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425196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1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cluster de 2 pays isole un profil atypique — point à comparer avec K-Means.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: une segmentation équilibrée</a:t>
            </a:r>
            <a:endParaRPr lang="en-US" sz="3000" dirty="0"/>
          </a:p>
        </p:txBody>
      </p:sp>
      <p:pic>
        <p:nvPicPr>
          <p:cNvPr id="4" name="Image 0" descr="../check/imgs/NB2_12_cell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28509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23151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visuelle CAH vs K-Means sur le plan F1–F2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BF4EC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silhouette (k=4)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  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B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0,409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proche de 1 = clusters bien séparés.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361188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B8472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garder K-Means 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01000" y="41605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plus équilibrés en taille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pays isolé artificiellement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directement exploitable pour le ciblage commercial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CAH confirme k=4 et révèle les profils atypiques ; le K-Means fournit la segmentation opérationnelle retenue pour les recommandations.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profils de pays bien différenciés</a:t>
            </a:r>
            <a:endParaRPr lang="en-US" sz="3000" dirty="0"/>
          </a:p>
        </p:txBody>
      </p:sp>
      <p:pic>
        <p:nvPicPr>
          <p:cNvPr id="4" name="Image 0" descr="../check/imgs/NB2_13_cell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600200"/>
            <a:ext cx="9692640" cy="3496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712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8A7B6E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462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85800" y="5736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en développement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6057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faible, peu urbanisés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10712" y="53712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7A2F1F"/>
          </a:solidFill>
          <a:ln/>
        </p:spPr>
      </p:sp>
      <p:sp>
        <p:nvSpPr>
          <p:cNvPr id="10" name="Text 7"/>
          <p:cNvSpPr/>
          <p:nvPr/>
        </p:nvSpPr>
        <p:spPr>
          <a:xfrm>
            <a:off x="3547872" y="5462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47872" y="5736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développés producteurs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47872" y="6057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très élevé, forte production locale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72784" y="53712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B8472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9944" y="5462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9944" y="5736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cibles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9944" y="6057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correct, forte dépendance aux imports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134856" y="53712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6B7A4F"/>
          </a:solidFill>
          <a:ln/>
        </p:spPr>
      </p:sp>
      <p:sp>
        <p:nvSpPr>
          <p:cNvPr id="18" name="Text 15"/>
          <p:cNvSpPr/>
          <p:nvPr/>
        </p:nvSpPr>
        <p:spPr>
          <a:xfrm>
            <a:off x="9272016" y="5462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272016" y="5736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intermédiaires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72016" y="6057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moyen, production partielle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détaillé des clusters</a:t>
            </a:r>
            <a:endParaRPr lang="en-US" sz="3000" dirty="0"/>
          </a:p>
        </p:txBody>
      </p:sp>
      <p:pic>
        <p:nvPicPr>
          <p:cNvPr id="4" name="Image 0" descr="../check/imgs/NB2_15_cell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44099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284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plot — profils normalisés</a:t>
            </a:r>
            <a:endParaRPr lang="en-US" sz="1050" dirty="0"/>
          </a:p>
        </p:txBody>
      </p:sp>
      <p:pic>
        <p:nvPicPr>
          <p:cNvPr id="6" name="Image 1" descr="../check/imgs/NB2_14_cell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486400" cy="27986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45999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— dispersion par indicateur et par cluster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55321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E9DD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radar révèle un cluster avec un pic marqué sur les imports de volaille — combiné à un PIB et une urbanisation corrects, c'est le profil recherché pour La Poule Qui Chante.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A2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cluster cible identifié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combinant PIB par habitant, dépendance aux imports et urbanisation permet d'identifier objectivement le cluster le plus prometteur.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B8472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dans le cluster cible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B8472F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2377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7872" y="3108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volaille / million d'hab. (le plus élevé des 4 clusters)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B847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2377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20 449 $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9944" y="3108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 moyen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4856" y="2148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B8472F"/>
          </a:solidFill>
          <a:ln/>
        </p:spPr>
      </p:sp>
      <p:sp>
        <p:nvSpPr>
          <p:cNvPr id="15" name="Text 13"/>
          <p:cNvSpPr/>
          <p:nvPr/>
        </p:nvSpPr>
        <p:spPr>
          <a:xfrm>
            <a:off x="9272016" y="2377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73,9 %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72016" y="3108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urbaine moyenne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8C3A24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370832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4448099"/>
            <a:ext cx="439826" cy="43982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cluster ?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91640" y="47548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cluster combine ce que La Poule Qui Chante recherche : un marché solvable (PIB correct), un besoin réel non couvert localement (forte dépendance aux imports, faible production), et un marché structuré (forte urbanisation, signal bio présent).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marchés prioritaires à l'export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8 pays du cluster cible, 4 sont écartés des priorités immédiates : leur population est trop faible (&lt; 1 million d'habitants) pour amortir les coûts logistiques d'un export international.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maximale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BF4E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60904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5146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Émirats arabes unis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BF4E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374136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278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Arabie saoudite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BF4E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87368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94106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Koweït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BF4E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800600"/>
            <a:ext cx="292608" cy="292608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654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1031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de niche — écartés pour l'instant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51460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2EDE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~200 000 hab.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227832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2EDE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227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3227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~72 000 hab.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941064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2EDE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941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Suriname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39410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~580 000 hab.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4745736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futures : distributeurs régionaux (hub Caraïbes, hub Pacifique Sud) plutôt qu'export direct.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Solvabilité vs dépendance aux imports</a:t>
            </a:r>
            <a:endParaRPr lang="en-US" sz="3000" dirty="0"/>
          </a:p>
        </p:txBody>
      </p:sp>
      <p:pic>
        <p:nvPicPr>
          <p:cNvPr id="4" name="Image 0" descr="../check/imgs/NB2_17_cell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675120" cy="41484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554480"/>
            <a:ext cx="4160520" cy="4148437"/>
          </a:xfrm>
          <a:prstGeom prst="roundRect">
            <a:avLst>
              <a:gd name="adj" fmla="val 1763"/>
            </a:avLst>
          </a:prstGeom>
          <a:solidFill>
            <a:srgbClr val="FBF4EC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7190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lire ce graphique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2668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à droite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26680" y="2404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 plus élevé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26680" y="2770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en haut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26680" y="30266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grande dépendance aux imports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26680" y="3392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la bulle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36484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d'urbanisation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6680" y="4014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de la bulle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270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l'agriculture bio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26680" y="46817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pays en haut à droite combinent fort PIB et forte dépendance aux imports : priorité maximale.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66928" cy="566928"/>
          </a:xfrm>
          <a:prstGeom prst="ellipse">
            <a:avLst/>
          </a:prstGeom>
          <a:solidFill>
            <a:srgbClr val="B8472F"/>
          </a:solidFill>
          <a:ln/>
        </p:spPr>
      </p:sp>
      <p:pic>
        <p:nvPicPr>
          <p:cNvPr id="6" name="Image 0" descr="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187506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 Golfe en priorité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0299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Émirats, Arabie saoudite, Koweït, Oman : marchés solvables, urbanisés, fortement dépendants des imports de volaille.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08376"/>
            <a:ext cx="566928" cy="566928"/>
          </a:xfrm>
          <a:prstGeom prst="ellipse">
            <a:avLst/>
          </a:prstGeom>
          <a:solidFill>
            <a:srgbClr val="6B7A4F"/>
          </a:solidFill>
          <a:ln/>
        </p:spPr>
      </p:sp>
      <p:pic>
        <p:nvPicPr>
          <p:cNvPr id="11" name="Image 1" descr="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41" y="3082077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l'argument bio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23697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agriculture biologique est déjà présent dans ces pays — un positionnement premium est cohérent avec leur profil.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15384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2" descr="icons/p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4289085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87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la logistique export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44398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marchés ont une liberté de commerce élevée : les barrières réglementaires à l'entrée devraient être limitées.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75504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B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422392"/>
            <a:ext cx="566928" cy="566928"/>
          </a:xfrm>
          <a:prstGeom prst="ellipse">
            <a:avLst/>
          </a:prstGeom>
          <a:solidFill>
            <a:srgbClr val="7A2F1F"/>
          </a:solidFill>
          <a:ln/>
        </p:spPr>
      </p:sp>
      <p:pic>
        <p:nvPicPr>
          <p:cNvPr id="21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549609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294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niches via des hubs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56509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Samoa, Dominique, Suriname : trop petits pour un export direct, mais à revisiter via des distributeurs régionaux.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— Étude de marché export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A2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B847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démarche data, des résultats actionnables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898648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706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pays analysés à partir de 7 sources de données fiabilisées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6557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variables réduites à 4 axes de lecture (ACP, 70% de variance expliquée)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044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profils de pays distincts identifiés (CAH + K-Means)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59943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714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marchés prioritaires recommandés : Émirats, Arabie saoudite, Koweït, Oman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B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 et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Poule Qui Chante — Étude de marché export</dc:title>
  <dc:subject>PptxGenJS Presentation</dc:subject>
  <dc:creator>Vincent Boutillier</dc:creator>
  <cp:lastModifiedBy>Vincent Boutillier</cp:lastModifiedBy>
  <cp:revision>1</cp:revision>
  <dcterms:created xsi:type="dcterms:W3CDTF">2026-06-29T12:56:51Z</dcterms:created>
  <dcterms:modified xsi:type="dcterms:W3CDTF">2026-06-29T12:56:51Z</dcterms:modified>
</cp:coreProperties>
</file>