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yExEi3oFPs9XHk5i61u3OVDCj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6343D7-0B6F-46FF-A9B7-E3FCAF484EAD}">
  <a:tblStyle styleId="{7D6343D7-0B6F-46FF-A9B7-E3FCAF484EA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étudiants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Île-de-France</c:v>
                  </c:pt>
                  <c:pt idx="1">
                    <c:v>Auv.-Rhône-Alpes</c:v>
                  </c:pt>
                  <c:pt idx="2">
                    <c:v>Hauts-de-France</c:v>
                  </c:pt>
                  <c:pt idx="3">
                    <c:v>Nouvelle-Aquitaine</c:v>
                  </c:pt>
                  <c:pt idx="4">
                    <c:v>PACA</c:v>
                  </c:pt>
                  <c:pt idx="5">
                    <c:v>Occitanie</c:v>
                  </c:pt>
                  <c:pt idx="6">
                    <c:v>Grand Est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45.6</c:v>
                </c:pt>
                <c:pt idx="1">
                  <c:v>9.4</c:v>
                </c:pt>
                <c:pt idx="2">
                  <c:v>6.5</c:v>
                </c:pt>
                <c:pt idx="3">
                  <c:v>6.4</c:v>
                </c:pt>
                <c:pt idx="4">
                  <c:v>6.3</c:v>
                </c:pt>
                <c:pt idx="5">
                  <c:v>6.2</c:v>
                </c:pt>
                <c:pt idx="6">
                  <c:v>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étudiants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20-24 ans</c:v>
                  </c:pt>
                  <c:pt idx="1">
                    <c:v>25-29 ans</c:v>
                  </c:pt>
                  <c:pt idx="2">
                    <c:v>30-34 ans</c:v>
                  </c:pt>
                  <c:pt idx="3">
                    <c:v>35-39 ans</c:v>
                  </c:pt>
                  <c:pt idx="4">
                    <c:v>40-44 ans</c:v>
                  </c:pt>
                  <c:pt idx="5">
                    <c:v>45-49 ans</c:v>
                  </c:pt>
                  <c:pt idx="6">
                    <c:v>50-54 ans</c:v>
                  </c:pt>
                  <c:pt idx="7">
                    <c:v>55-59 ans</c:v>
                  </c:pt>
                  <c:pt idx="8">
                    <c:v>60 ans ou plus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4.1</c:v>
                </c:pt>
                <c:pt idx="1">
                  <c:v>19.6</c:v>
                </c:pt>
                <c:pt idx="2">
                  <c:v>25.5</c:v>
                </c:pt>
                <c:pt idx="3">
                  <c:v>18.6</c:v>
                </c:pt>
                <c:pt idx="4">
                  <c:v>13.1</c:v>
                </c:pt>
                <c:pt idx="5">
                  <c:v>8.5</c:v>
                </c:pt>
                <c:pt idx="6">
                  <c:v>5.7</c:v>
                </c:pt>
                <c:pt idx="7">
                  <c:v>3.3</c:v>
                </c:pt>
                <c:pt idx="8">
                  <c:v>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Indice de représentation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IDF · 30-34 ans · 2023</c:v>
                  </c:pt>
                  <c:pt idx="1">
                    <c:v>IDF · 25-29 ans · 2023</c:v>
                  </c:pt>
                  <c:pt idx="2">
                    <c:v>IDF · 30-34 ans · 2022</c:v>
                  </c:pt>
                  <c:pt idx="3">
                    <c:v>IDF · 25-29 ans · 2024</c:v>
                  </c:pt>
                  <c:pt idx="4">
                    <c:v>IDF · 35-39 ans · 2023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8.29</c:v>
                </c:pt>
                <c:pt idx="1">
                  <c:v>7</c:v>
                </c:pt>
                <c:pt idx="2">
                  <c:v>6.68</c:v>
                </c:pt>
                <c:pt idx="3">
                  <c:v>6.52</c:v>
                </c:pt>
                <c:pt idx="4">
                  <c:v>5.92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20-24 ans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0.37</c:v>
                </c:pt>
                <c:pt idx="1">
                  <c:v>0.43</c:v>
                </c:pt>
                <c:pt idx="2">
                  <c:v>1.15</c:v>
                </c:pt>
                <c:pt idx="3">
                  <c:v>2.13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25-29 ans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4.13</c:v>
                </c:pt>
                <c:pt idx="1">
                  <c:v>7</c:v>
                </c:pt>
                <c:pt idx="2">
                  <c:v>6.52</c:v>
                </c:pt>
                <c:pt idx="3">
                  <c:v>5.79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30-34 ans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6.68</c:v>
                </c:pt>
                <c:pt idx="1">
                  <c:v>8.29</c:v>
                </c:pt>
                <c:pt idx="2">
                  <c:v>5.5</c:v>
                </c:pt>
                <c:pt idx="3">
                  <c:v>5.66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3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4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52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065A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Analyse de l'évolution du profil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sociodémographique des étudiants Data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d'OpenClassrooms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Pipeline dbt Cloud + Snowflake | Données 2022-2025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Parcours Data Analsyt— OpenClassrooms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Juillet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Contexte &amp; Objectif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65760" y="1188720"/>
            <a:ext cx="4023360" cy="3383280"/>
          </a:xfrm>
          <a:prstGeom prst="roundRect">
            <a:avLst>
              <a:gd fmla="val 2703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Contexte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1783080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Marie-Neige Martin, Lead Data Analyst chez OpenClassrooms, pilote une analyse rétrospective du profil des étudiants du parcours Data Analyst.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Les données internes ont été collectées sur la période 2022–2025 et doivent être enrichies avec des données publiques INSEE.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754880" y="1188720"/>
            <a:ext cx="4023360" cy="3383280"/>
          </a:xfrm>
          <a:prstGeom prst="roundRect">
            <a:avLst>
              <a:gd fmla="val 2703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937760" y="13258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Objectifs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937760" y="1783080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Vérifier la qualité des données et leur conformité RGPD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Structurer et transformer les données via un pipeline dbt documenté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Intégrer des données socio-démographiques publiques (INSEE)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Analyser l'évolution du profil étudiant sur 4 ans (2022–2025)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Sources de données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365760" y="1188720"/>
            <a:ext cx="3931920" cy="3474720"/>
          </a:xfrm>
          <a:prstGeom prst="roundRect">
            <a:avLst>
              <a:gd fmla="val 2632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48640" y="132588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Données internes OpenClassrooms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48640" y="187452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Fichier : RAW_ETUDIANTS_DATA_ANALYST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4 647 enregistrements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Période : 2022–2025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Colonnes 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USER_ID, PATH_CATEGORY_NAME,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AGE_GROUP, GENDER, REGION,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YEAR_PATH_STARTED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846320" y="1188720"/>
            <a:ext cx="3931920" cy="3474720"/>
          </a:xfrm>
          <a:prstGeom prst="roundRect">
            <a:avLst>
              <a:gd fmla="val 2632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029200" y="132588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Données publiques INSEE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029200" y="187452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Source : Estimations de population par région, sexe et âge quinquennal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504 enregistrements (2022–2025)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Colonnes 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ANNEE, REGION, AGE_GROUP,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POPULATION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Référence 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insee.fr/fr/statistiques/8721456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Conformité RGPD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65760" y="1188720"/>
            <a:ext cx="3931920" cy="1554480"/>
          </a:xfrm>
          <a:prstGeom prst="roundRect">
            <a:avLst>
              <a:gd fmla="val 5882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8640" y="12801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Données minimales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48640" y="160020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Seuls les champs nécessaires à l'analyse sociodémographique sont présents : aucun nom, email, date de naissance complète ou donnée directement identifiante.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65760" y="2926080"/>
            <a:ext cx="3931920" cy="1554480"/>
          </a:xfrm>
          <a:prstGeom prst="roundRect">
            <a:avLst>
              <a:gd fmla="val 5882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48640" y="30175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Pseudonymisation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48640" y="333756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Les identifiants sont pseudonymisés (USER_ID de type U-XXXXXXX). Les données ne permettent pas de ré-identifier un étudiant sans la clé de correspondance.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846320" y="1188720"/>
            <a:ext cx="3931920" cy="1554480"/>
          </a:xfrm>
          <a:prstGeom prst="roundRect">
            <a:avLst>
              <a:gd fmla="val 5882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029200" y="12801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Données agrégées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029200" y="160020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AGE_GROUP est déjà en tranches de 5 ans (ex: 30-34 ans). GENDER est limité à F/M. Les analyses finales portent sur des agrégats, jamais sur des individus.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846320" y="2926080"/>
            <a:ext cx="3931920" cy="1554480"/>
          </a:xfrm>
          <a:prstGeom prst="roundRect">
            <a:avLst>
              <a:gd fmla="val 5882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029200" y="30175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Stockage sécurisé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029200" y="333756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Les données brutes sont chargées dans le schema RAW de Snowflake (accès contrôlé par rôle ACCOUNTADMIN). Aucune donnée personnelle n'est versionnée dans Git.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Architecture du pipeline dbt</a:t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228600" y="1280160"/>
            <a:ext cx="1828800" cy="1097280"/>
          </a:xfrm>
          <a:prstGeom prst="roundRect">
            <a:avLst>
              <a:gd fmla="val 8333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RAW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RAW_ETUDIANTS_DATA_ANALYST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4 647 lignes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228600" y="2926080"/>
            <a:ext cx="1828800" cy="1097280"/>
          </a:xfrm>
          <a:prstGeom prst="roundRect">
            <a:avLst>
              <a:gd fmla="val 8333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RAW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RAW_INSEE_POPULATION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504 lignes</a:t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200400" y="1280160"/>
            <a:ext cx="2286000" cy="1097280"/>
          </a:xfrm>
          <a:prstGeom prst="roundRect">
            <a:avLst>
              <a:gd fmla="val 8333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stg_etudiants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Nettoyage + harmonisation</a:t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200400" y="2926080"/>
            <a:ext cx="2286000" cy="1097280"/>
          </a:xfrm>
          <a:prstGeom prst="roundRect">
            <a:avLst>
              <a:gd fmla="val 8333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stg_region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Recodage INSEE</a:t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400800" y="1920240"/>
            <a:ext cx="2514600" cy="1280160"/>
          </a:xfrm>
          <a:prstGeom prst="roundRect">
            <a:avLst>
              <a:gd fmla="val 8333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mart_profil_socio_demo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Croisement + indice repr.</a:t>
            </a:r>
            <a:endParaRPr/>
          </a:p>
        </p:txBody>
      </p:sp>
      <p:cxnSp>
        <p:nvCxnSpPr>
          <p:cNvPr id="79" name="Google Shape;79;p5"/>
          <p:cNvCxnSpPr/>
          <p:nvPr/>
        </p:nvCxnSpPr>
        <p:spPr>
          <a:xfrm>
            <a:off x="2057400" y="1828800"/>
            <a:ext cx="114300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" name="Google Shape;80;p5"/>
          <p:cNvCxnSpPr/>
          <p:nvPr/>
        </p:nvCxnSpPr>
        <p:spPr>
          <a:xfrm>
            <a:off x="2057400" y="3474720"/>
            <a:ext cx="114300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" name="Google Shape;81;p5"/>
          <p:cNvCxnSpPr/>
          <p:nvPr/>
        </p:nvCxnSpPr>
        <p:spPr>
          <a:xfrm>
            <a:off x="5486400" y="1828800"/>
            <a:ext cx="914400" cy="548640"/>
          </a:xfrm>
          <a:prstGeom prst="straightConnector1">
            <a:avLst/>
          </a:prstGeom>
          <a:noFill/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" name="Google Shape;82;p5"/>
          <p:cNvCxnSpPr/>
          <p:nvPr/>
        </p:nvCxnSpPr>
        <p:spPr>
          <a:xfrm flipH="1" rot="10800000">
            <a:off x="5486400" y="2926080"/>
            <a:ext cx="914400" cy="548640"/>
          </a:xfrm>
          <a:prstGeom prst="straightConnector1">
            <a:avLst/>
          </a:prstGeom>
          <a:noFill/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3" name="Google Shape;83;p5"/>
          <p:cNvSpPr/>
          <p:nvPr/>
        </p:nvSpPr>
        <p:spPr>
          <a:xfrm>
            <a:off x="365760" y="4389120"/>
            <a:ext cx="8412480" cy="548640"/>
          </a:xfrm>
          <a:prstGeom prst="roundRect">
            <a:avLst>
              <a:gd fmla="val 5000" name="adj"/>
            </a:avLst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✅  1</a:t>
            </a:r>
            <a:r>
              <a:rPr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 tests dbt — not_null sur toutes les colonnes, accepted_values sur AGE_GROUP et GENDER — tous validés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Lineage dbt Cloud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1188720"/>
            <a:ext cx="8229600" cy="3200400"/>
          </a:xfrm>
          <a:prstGeom prst="roundRect">
            <a:avLst>
              <a:gd fmla="val 285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[Insérer ici la capture d'écran du Lineage dbt Studio]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(Onglet Lineage visible depuis mart_profil_socio_demo.sql dans dbt Studio)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 graphe montre la chaîne complète : RAW sources → stg_etudiants → mart_profil_socio_demo, assurant la traçabilité et la reproductibilité des transformations.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Règles de nettoyage appliquées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365760" y="1188720"/>
            <a:ext cx="3931920" cy="1600200"/>
          </a:xfrm>
          <a:prstGeom prst="roundRect">
            <a:avLst>
              <a:gd fmla="val 5714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02920" y="1325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051560" y="13258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Harmonisation USER_ID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48640" y="178308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Certains identifiants n'avaient pas le préfixe "U-" dans la source brute. Uniformisation vers le format U-XXXXXXXXX sans perte de données.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65760" y="2926080"/>
            <a:ext cx="3931920" cy="1600200"/>
          </a:xfrm>
          <a:prstGeom prst="roundRect">
            <a:avLst>
              <a:gd fmla="val 5714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02920" y="30632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02920" y="3063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051560" y="30632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Gestion GENDER manquant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48640" y="35204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26.8% des valeurs GENDER étaient vides (1 246 lignes). Remplacement par "Non précisé" pour éviter des pertes silencieuses lors des agrégations.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846320" y="1188720"/>
            <a:ext cx="3931920" cy="1600200"/>
          </a:xfrm>
          <a:prstGeom prst="roundRect">
            <a:avLst>
              <a:gd fmla="val 5714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983480" y="132588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983480" y="1325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532120" y="13258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Parcours multiples (doublons apparents)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029200" y="178308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637 USER_ID apparaissent sur plusieurs lignes. Analyse confirmée : chaque ligne correspond à une année distincte (nb_lignes = nb_années_distinctes). Ce ne sont pas des doublons — granularité = 1 ligne par parcours démarré.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846320" y="2926080"/>
            <a:ext cx="3931920" cy="1600200"/>
          </a:xfrm>
          <a:prstGeom prst="roundRect">
            <a:avLst>
              <a:gd fmla="val 5714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983480" y="30632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983480" y="3063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532120" y="30632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Harmonisation régions INSEE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029200" y="35204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Alignement manuel des noms : "Centre-Val-de-Loire" → "Centre-Val de Loire", DOM individuels → "DROM". Tranches 60-64 à 95+ regroupées en "60 ans ou plus".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Vérification de la fiabilité des données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3200400" y="1188720"/>
            <a:ext cx="2743200" cy="1371600"/>
          </a:xfrm>
          <a:prstGeom prst="roundRect">
            <a:avLst>
              <a:gd fmla="val 6667" name="adj"/>
            </a:avLst>
          </a:prstGeom>
          <a:solidFill>
            <a:srgbClr val="065A82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3200400" y="123444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13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3200400" y="20116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tests dbt — tous validés 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Google Shape;132;p8"/>
          <p:cNvGraphicFramePr/>
          <p:nvPr/>
        </p:nvGraphicFramePr>
        <p:xfrm>
          <a:off x="365760" y="2697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{7D6343D7-0B6F-46FF-A9B7-E3FCAF484EAD}</a:tableStyleId>
              </a:tblPr>
              <a:tblGrid>
                <a:gridCol w="2011675"/>
                <a:gridCol w="1645925"/>
                <a:gridCol w="3474725"/>
                <a:gridCol w="12801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mbr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Modèle</a:t>
                      </a:r>
                      <a:endParaRPr sz="11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mbr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Test</a:t>
                      </a:r>
                      <a:endParaRPr sz="11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mbr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Colonnes testées</a:t>
                      </a:r>
                      <a:endParaRPr sz="11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mbr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Résultat</a:t>
                      </a:r>
                      <a:endParaRPr sz="11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stg_etudiants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not_null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user_id, path_category, age_group,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gender, region, year_path_started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Pass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stg_etudiants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accepted_values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age_group (9 valeurs), gender (F/M/Non précisé)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Pass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6F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mart_profil_socio_demo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not_null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region, age_group, nb_etudiants,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population, indice_representation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Pass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Enrichissement par les données INSEE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L'indice de représentation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365760" y="1691640"/>
            <a:ext cx="8412480" cy="914400"/>
          </a:xfrm>
          <a:prstGeom prst="roundRect">
            <a:avLst>
              <a:gd fmla="val 1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Indice = (Part des étudiants dans cette case %) ÷ (Part de la population générale dans cette case %)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365760" y="2788920"/>
            <a:ext cx="2651760" cy="2103120"/>
          </a:xfrm>
          <a:prstGeom prst="roundRect">
            <a:avLst>
              <a:gd fmla="val 4348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365760" y="283464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&gt; 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457200" y="34290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Sur-représentation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57200" y="379476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Cette tranche démographique est plus présente chez les étudiants Data Analyst que dans la population française.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3200400" y="2788920"/>
            <a:ext cx="2651760" cy="2103120"/>
          </a:xfrm>
          <a:prstGeom prst="roundRect">
            <a:avLst>
              <a:gd fmla="val 4348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3200400" y="283464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= 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3291840" y="34290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Représentation équilibrée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3291840" y="379476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 part des étudiants reflète exactement la structure de la population générale.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6035040" y="2788920"/>
            <a:ext cx="2651760" cy="2103120"/>
          </a:xfrm>
          <a:prstGeom prst="roundRect">
            <a:avLst>
              <a:gd fmla="val 4348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035040" y="283464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rPr>
              <a:t>&lt; 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126480" y="34290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Sous-représentation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126480" y="379476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Cette tranche est moins présente parmi les étudiants qu'on ne l'attendrait au vu de la population générale.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Répartition géographique des étudiants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365760" y="1188720"/>
            <a:ext cx="2286000" cy="1828800"/>
          </a:xfrm>
          <a:prstGeom prst="roundRect">
            <a:avLst>
              <a:gd fmla="val 5000" name="adj"/>
            </a:avLst>
          </a:prstGeom>
          <a:solidFill>
            <a:srgbClr val="065A82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365760" y="13258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45.6%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365760" y="21488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 étudiants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sont 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Île-de-France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10"/>
          <p:cNvGraphicFramePr/>
          <p:nvPr/>
        </p:nvGraphicFramePr>
        <p:xfrm>
          <a:off x="2834640" y="1097280"/>
          <a:ext cx="5943600" cy="374904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Répartition par tranche d'âge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11"/>
          <p:cNvGraphicFramePr/>
          <p:nvPr/>
        </p:nvGraphicFramePr>
        <p:xfrm>
          <a:off x="365760" y="1097280"/>
          <a:ext cx="5303520" cy="37490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74" name="Google Shape;174;p11"/>
          <p:cNvSpPr/>
          <p:nvPr/>
        </p:nvSpPr>
        <p:spPr>
          <a:xfrm>
            <a:off x="5943600" y="1188720"/>
            <a:ext cx="2834640" cy="1097280"/>
          </a:xfrm>
          <a:prstGeom prst="roundRect">
            <a:avLst>
              <a:gd fmla="val 8333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5943600" y="123444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25.5%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6035040" y="18288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30-34 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(tranche dominante)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5943600" y="2468880"/>
            <a:ext cx="2834640" cy="1097280"/>
          </a:xfrm>
          <a:prstGeom prst="roundRect">
            <a:avLst>
              <a:gd fmla="val 8333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5943600" y="251460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63.7%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6035040" y="31089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 étudiants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ont entre 25 et 44 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5943600" y="3749040"/>
            <a:ext cx="2834640" cy="1097280"/>
          </a:xfrm>
          <a:prstGeom prst="roundRect">
            <a:avLst>
              <a:gd fmla="val 8333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5943600" y="379476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1.6%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035040" y="43891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60 ans ou plus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(très sous-représentés)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Top 5 — Segments les plus sur-représentés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Indice de représentation le plus élevé toutes années confondues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12"/>
          <p:cNvGraphicFramePr/>
          <p:nvPr/>
        </p:nvGraphicFramePr>
        <p:xfrm>
          <a:off x="365760" y="1463040"/>
          <a:ext cx="8412480" cy="338328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Évolution 2022–2025 : Île-de-France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9" name="Google Shape;199;p13"/>
          <p:cNvGraphicFramePr/>
          <p:nvPr/>
        </p:nvGraphicFramePr>
        <p:xfrm>
          <a:off x="365760" y="1188720"/>
          <a:ext cx="5943600" cy="36576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00" name="Google Shape;200;p13"/>
          <p:cNvSpPr/>
          <p:nvPr/>
        </p:nvSpPr>
        <p:spPr>
          <a:xfrm>
            <a:off x="6492240" y="1188720"/>
            <a:ext cx="2286000" cy="3657600"/>
          </a:xfrm>
          <a:prstGeom prst="roundRect">
            <a:avLst>
              <a:gd fmla="val 4000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6583680" y="12801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Points clés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6583680" y="1691640"/>
            <a:ext cx="21031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20-24 ans en forte hausse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Indice 0.37→2.13 : émergence d'une nouvelle population étudiante plus jeune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30-34 ans reste dominant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Cœur de cible stable, pic en 2023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25-29 ans en légère baisse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Après pic 2023, stabilisation attendue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Recommandations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365760" y="1188720"/>
            <a:ext cx="3931920" cy="1691640"/>
          </a:xfrm>
          <a:prstGeom prst="roundRect">
            <a:avLst>
              <a:gd fmla="val 5405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502920" y="1325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1051560" y="13258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Capitaliser sur le profil 30-34 ans actif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548640" y="1783080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 segment reste le cœur de cible (25.5% des inscrits, indice &gt; 5 en Île-de-France). Les contenus pédagogiques et les arguments marketing devraient continuer à cibler les professionnels en reconversion de cette tranche.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365760" y="3017520"/>
            <a:ext cx="3931920" cy="1691640"/>
          </a:xfrm>
          <a:prstGeom prst="roundRect">
            <a:avLst>
              <a:gd fmla="val 5405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502920" y="31546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50292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1051560" y="31546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Développer l'acquisition des 20-24 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548640" y="3611880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 progression rapide (indice 0.37 → 2.13 en IDF sur 3 ans) montre un intérêt croissant des jeunes diplômés. Opportunité : renforcer les partenariats avec les universités et les formations post-bac.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846320" y="1188720"/>
            <a:ext cx="3931920" cy="1691640"/>
          </a:xfrm>
          <a:prstGeom prst="roundRect">
            <a:avLst>
              <a:gd fmla="val 5405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983480" y="13258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4983480" y="1325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5532120" y="13258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Diversifier géographiquement le recrutement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5029200" y="1783080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45.6% des étudiants sont en Île-de-France, soit 5× sa part relative dans la population active. Des efforts de communication ciblés en régions (Hauts-de-France, Grand Est, Bretagne) pourraient réduire cette concentration.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4846320" y="3017520"/>
            <a:ext cx="3931920" cy="1691640"/>
          </a:xfrm>
          <a:prstGeom prst="roundRect">
            <a:avLst>
              <a:gd fmla="val 5405" name="adj"/>
            </a:avLst>
          </a:prstGeom>
          <a:solidFill>
            <a:srgbClr val="EEF6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4983480" y="31546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498348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5532120" y="31546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Compléter les données GENDER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5029200" y="3611880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26.8% des entrées GENDER sont vides. La mise en place d'un champ obligatoire lors de l'inscription ou d'une campagne de mise à jour permettrait d'affiner l'analyse de la parité (actuellement 50.4% H / 22.7% F / 26.8% NR).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526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 &amp; Limites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365760" y="1280160"/>
            <a:ext cx="3931920" cy="2743200"/>
          </a:xfrm>
          <a:prstGeom prst="roundRect">
            <a:avLst>
              <a:gd fmla="val 3333" name="adj"/>
            </a:avLst>
          </a:prstGeom>
          <a:solidFill>
            <a:srgbClr val="065A82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548640" y="14173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Ce que l'analyse révèle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548640" y="1828800"/>
            <a:ext cx="3566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L'étudiant Data Analyst type est un actif de 30-34 ans basé en Île-de-France, en reconversion professionnelle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Une tendance émergente : les 20-24 ans s'orientent de plus en plus vers la data (×5.7 en 3 ans en IDF)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parité reste déséquilibrée (50% H, 23% F) et 27% de données genre manquantes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4846320" y="1280160"/>
            <a:ext cx="3931920" cy="2743200"/>
          </a:xfrm>
          <a:prstGeom prst="roundRect">
            <a:avLst>
              <a:gd fmla="val 3333" name="adj"/>
            </a:avLst>
          </a:prstGeom>
          <a:solidFill>
            <a:srgbClr val="1C7293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5029200" y="14173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Limites de l'analyse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5029200" y="1828800"/>
            <a:ext cx="3566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26.8% de GENDER manquant : la parité est sous-estimée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 de données sur le niveau d'études initial ou le statut emploi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Corse absente du dataset étudiant (non matchable avec INSEE)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Données INSEE 2026 non encore disponibles au moment de l'analyse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Pipeline dbt Cloud disponible et reproductible sur Snowflake · Données 2022–2025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2026-07-01T12:19:42Z</dcterms:created>
  <dc:creator>PptxGenJS</dc:creator>
</cp:coreProperties>
</file>